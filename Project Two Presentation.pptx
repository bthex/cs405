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12192000"/>
  <p:notesSz cx="6858000" cy="9144000"/>
  <p:embeddedFontLst>
    <p:embeddedFont>
      <p:font typeface="Century Gothic"/>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8" roundtripDataSignature="AMtx7midzFdhQ1NWnlxdPVRQePGkiCTH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B2E925-1B7E-417F-B357-E21988439392}">
  <a:tblStyle styleId="{D9B2E925-1B7E-417F-B357-E2198843939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CenturyGothic-regular.fntdata"/><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CenturyGothic-italic.fntdata"/><Relationship Id="rId25" Type="http://schemas.openxmlformats.org/officeDocument/2006/relationships/font" Target="fonts/CenturyGothic-bold.fntdata"/><Relationship Id="rId28" Type="http://customschemas.google.com/relationships/presentationmetadata" Target="metadata"/><Relationship Id="rId27" Type="http://schemas.openxmlformats.org/officeDocument/2006/relationships/font" Target="fonts/CenturyGothic-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9504e2950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9504e2950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017c51a07a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017c51a07a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017c51a07a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3017c51a07a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017c51a07a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3017c51a07a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pic>
        <p:nvPicPr>
          <p:cNvPr descr="C0-HD-BTM.png" id="13" name="Google Shape;13;p16"/>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4" name="Google Shape;14;p16"/>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6"/>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6"/>
          <p:cNvSpPr txBox="1"/>
          <p:nvPr>
            <p:ph idx="10" type="dt"/>
          </p:nvPr>
        </p:nvSpPr>
        <p:spPr>
          <a:xfrm>
            <a:off x="7909561" y="4314328"/>
            <a:ext cx="2910840" cy="37464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1" type="ftr"/>
          </p:nvPr>
        </p:nvSpPr>
        <p:spPr>
          <a:xfrm>
            <a:off x="1371600" y="4323845"/>
            <a:ext cx="6400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2" type="sldNum"/>
          </p:nvPr>
        </p:nvSpPr>
        <p:spPr>
          <a:xfrm>
            <a:off x="8077200" y="1430866"/>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7"/>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 name="Google Shape;22;p17"/>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5" name="Shape 25"/>
        <p:cNvGrpSpPr/>
        <p:nvPr/>
      </p:nvGrpSpPr>
      <p:grpSpPr>
        <a:xfrm>
          <a:off x="0" y="0"/>
          <a:ext cx="0" cy="0"/>
          <a:chOff x="0" y="0"/>
          <a:chExt cx="0" cy="0"/>
        </a:xfrm>
      </p:grpSpPr>
      <p:pic>
        <p:nvPicPr>
          <p:cNvPr descr="C0-HD-BTM.png" id="26" name="Google Shape;26;p1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27" name="Google Shape;27;p18"/>
          <p:cNvSpPr txBox="1"/>
          <p:nvPr>
            <p:ph type="title"/>
          </p:nvPr>
        </p:nvSpPr>
        <p:spPr>
          <a:xfrm>
            <a:off x="685800" y="753533"/>
            <a:ext cx="10820399" cy="2801935"/>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8"/>
          <p:cNvSpPr txBox="1"/>
          <p:nvPr>
            <p:ph idx="1" type="body"/>
          </p:nvPr>
        </p:nvSpPr>
        <p:spPr>
          <a:xfrm>
            <a:off x="1024467" y="3641725"/>
            <a:ext cx="10490200" cy="9556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29" name="Google Shape;29;p18"/>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1" type="ftr"/>
          </p:nvPr>
        </p:nvSpPr>
        <p:spPr>
          <a:xfrm>
            <a:off x="685800" y="381001"/>
            <a:ext cx="6991492" cy="3640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1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9"/>
          <p:cNvSpPr txBox="1"/>
          <p:nvPr>
            <p:ph idx="1" type="body"/>
          </p:nvPr>
        </p:nvSpPr>
        <p:spPr>
          <a:xfrm>
            <a:off x="6858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5" name="Google Shape;35;p19"/>
          <p:cNvSpPr txBox="1"/>
          <p:nvPr>
            <p:ph idx="2" type="body"/>
          </p:nvPr>
        </p:nvSpPr>
        <p:spPr>
          <a:xfrm>
            <a:off x="61722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 name="Google Shape;36;p1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20"/>
          <p:cNvSpPr txBox="1"/>
          <p:nvPr>
            <p:ph type="title"/>
          </p:nvPr>
        </p:nvSpPr>
        <p:spPr>
          <a:xfrm>
            <a:off x="2895600" y="762000"/>
            <a:ext cx="8610600"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 type="body"/>
          </p:nvPr>
        </p:nvSpPr>
        <p:spPr>
          <a:xfrm>
            <a:off x="914409" y="2183802"/>
            <a:ext cx="50799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2" name="Google Shape;42;p20"/>
          <p:cNvSpPr txBox="1"/>
          <p:nvPr>
            <p:ph idx="2" type="body"/>
          </p:nvPr>
        </p:nvSpPr>
        <p:spPr>
          <a:xfrm>
            <a:off x="685800" y="3132666"/>
            <a:ext cx="5311775"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20"/>
          <p:cNvSpPr txBox="1"/>
          <p:nvPr>
            <p:ph idx="3" type="body"/>
          </p:nvPr>
        </p:nvSpPr>
        <p:spPr>
          <a:xfrm>
            <a:off x="6400800" y="2183802"/>
            <a:ext cx="51054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4" name="Google Shape;44;p20"/>
          <p:cNvSpPr txBox="1"/>
          <p:nvPr>
            <p:ph idx="4" type="body"/>
          </p:nvPr>
        </p:nvSpPr>
        <p:spPr>
          <a:xfrm>
            <a:off x="6172200" y="3132666"/>
            <a:ext cx="5334000"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5" name="Google Shape;45;p2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2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2"/>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23"/>
          <p:cNvSpPr txBox="1"/>
          <p:nvPr>
            <p:ph type="title"/>
          </p:nvPr>
        </p:nvSpPr>
        <p:spPr>
          <a:xfrm>
            <a:off x="685800" y="1524000"/>
            <a:ext cx="4114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 type="body"/>
          </p:nvPr>
        </p:nvSpPr>
        <p:spPr>
          <a:xfrm>
            <a:off x="4995582" y="746759"/>
            <a:ext cx="6510618" cy="5471925"/>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0" name="Google Shape;60;p23"/>
          <p:cNvSpPr txBox="1"/>
          <p:nvPr>
            <p:ph idx="2" type="body"/>
          </p:nvPr>
        </p:nvSpPr>
        <p:spPr>
          <a:xfrm>
            <a:off x="685800" y="3124199"/>
            <a:ext cx="411480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1" name="Google Shape;61;p23"/>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24"/>
          <p:cNvSpPr txBox="1"/>
          <p:nvPr>
            <p:ph type="title"/>
          </p:nvPr>
        </p:nvSpPr>
        <p:spPr>
          <a:xfrm>
            <a:off x="685800" y="1524000"/>
            <a:ext cx="687324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p:nvPr>
            <p:ph idx="2" type="pic"/>
          </p:nvPr>
        </p:nvSpPr>
        <p:spPr>
          <a:xfrm>
            <a:off x="7861238" y="751241"/>
            <a:ext cx="3644962" cy="5467443"/>
          </a:xfrm>
          <a:prstGeom prst="rect">
            <a:avLst/>
          </a:prstGeom>
          <a:noFill/>
          <a:ln>
            <a:noFill/>
          </a:ln>
        </p:spPr>
      </p:sp>
      <p:sp>
        <p:nvSpPr>
          <p:cNvPr id="67" name="Google Shape;67;p24"/>
          <p:cNvSpPr txBox="1"/>
          <p:nvPr>
            <p:ph idx="1" type="body"/>
          </p:nvPr>
        </p:nvSpPr>
        <p:spPr>
          <a:xfrm>
            <a:off x="685800" y="3124199"/>
            <a:ext cx="687324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8" name="Google Shape;68;p24"/>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4"/>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1" name="Shape 71"/>
        <p:cNvGrpSpPr/>
        <p:nvPr/>
      </p:nvGrpSpPr>
      <p:grpSpPr>
        <a:xfrm>
          <a:off x="0" y="0"/>
          <a:ext cx="0" cy="0"/>
          <a:chOff x="0" y="0"/>
          <a:chExt cx="0" cy="0"/>
        </a:xfrm>
      </p:grpSpPr>
      <p:sp>
        <p:nvSpPr>
          <p:cNvPr id="72" name="Google Shape;72;p25"/>
          <p:cNvSpPr txBox="1"/>
          <p:nvPr>
            <p:ph type="title"/>
          </p:nvPr>
        </p:nvSpPr>
        <p:spPr>
          <a:xfrm>
            <a:off x="685777" y="4697360"/>
            <a:ext cx="10822034"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5"/>
          <p:cNvSpPr/>
          <p:nvPr>
            <p:ph idx="2" type="pic"/>
          </p:nvPr>
        </p:nvSpPr>
        <p:spPr>
          <a:xfrm>
            <a:off x="681727" y="941439"/>
            <a:ext cx="10821840" cy="3478161"/>
          </a:xfrm>
          <a:prstGeom prst="rect">
            <a:avLst/>
          </a:prstGeom>
          <a:noFill/>
          <a:ln>
            <a:noFill/>
          </a:ln>
        </p:spPr>
      </p:sp>
      <p:sp>
        <p:nvSpPr>
          <p:cNvPr id="74" name="Google Shape;74;p25"/>
          <p:cNvSpPr txBox="1"/>
          <p:nvPr>
            <p:ph idx="1" type="body"/>
          </p:nvPr>
        </p:nvSpPr>
        <p:spPr>
          <a:xfrm>
            <a:off x="685800" y="5516715"/>
            <a:ext cx="10820400" cy="7019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5" name="Google Shape;75;p2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78" name="Shape 78"/>
        <p:cNvGrpSpPr/>
        <p:nvPr/>
      </p:nvGrpSpPr>
      <p:grpSpPr>
        <a:xfrm>
          <a:off x="0" y="0"/>
          <a:ext cx="0" cy="0"/>
          <a:chOff x="0" y="0"/>
          <a:chExt cx="0" cy="0"/>
        </a:xfrm>
      </p:grpSpPr>
      <p:pic>
        <p:nvPicPr>
          <p:cNvPr descr="C0-HD-BTM.png" id="79" name="Google Shape;79;p26"/>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0" name="Google Shape;80;p26"/>
          <p:cNvSpPr txBox="1"/>
          <p:nvPr>
            <p:ph type="title"/>
          </p:nvPr>
        </p:nvSpPr>
        <p:spPr>
          <a:xfrm>
            <a:off x="685800" y="753532"/>
            <a:ext cx="10820400" cy="280246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6"/>
          <p:cNvSpPr txBox="1"/>
          <p:nvPr>
            <p:ph idx="1" type="body"/>
          </p:nvPr>
        </p:nvSpPr>
        <p:spPr>
          <a:xfrm>
            <a:off x="1024467" y="3649133"/>
            <a:ext cx="10130516" cy="99906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2" name="Google Shape;82;p26"/>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85" name="Shape 85"/>
        <p:cNvGrpSpPr/>
        <p:nvPr/>
      </p:nvGrpSpPr>
      <p:grpSpPr>
        <a:xfrm>
          <a:off x="0" y="0"/>
          <a:ext cx="0" cy="0"/>
          <a:chOff x="0" y="0"/>
          <a:chExt cx="0" cy="0"/>
        </a:xfrm>
      </p:grpSpPr>
      <p:pic>
        <p:nvPicPr>
          <p:cNvPr descr="C0-HD-BTM.png" id="86" name="Google Shape;86;p27"/>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7" name="Google Shape;87;p27"/>
          <p:cNvSpPr txBox="1"/>
          <p:nvPr>
            <p:ph type="title"/>
          </p:nvPr>
        </p:nvSpPr>
        <p:spPr>
          <a:xfrm>
            <a:off x="1024467" y="753533"/>
            <a:ext cx="10151533" cy="2604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7"/>
          <p:cNvSpPr txBox="1"/>
          <p:nvPr>
            <p:ph idx="1" type="body"/>
          </p:nvPr>
        </p:nvSpPr>
        <p:spPr>
          <a:xfrm>
            <a:off x="1303865" y="3365556"/>
            <a:ext cx="9592736" cy="444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9" name="Google Shape;89;p27"/>
          <p:cNvSpPr txBox="1"/>
          <p:nvPr>
            <p:ph idx="2" type="body"/>
          </p:nvPr>
        </p:nvSpPr>
        <p:spPr>
          <a:xfrm>
            <a:off x="1024467" y="3959862"/>
            <a:ext cx="10151533" cy="67987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0" name="Google Shape;90;p27"/>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7"/>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7"/>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95" name="Shape 95"/>
        <p:cNvGrpSpPr/>
        <p:nvPr/>
      </p:nvGrpSpPr>
      <p:grpSpPr>
        <a:xfrm>
          <a:off x="0" y="0"/>
          <a:ext cx="0" cy="0"/>
          <a:chOff x="0" y="0"/>
          <a:chExt cx="0" cy="0"/>
        </a:xfrm>
      </p:grpSpPr>
      <p:pic>
        <p:nvPicPr>
          <p:cNvPr descr="C0-HD-BTM.png" id="96" name="Google Shape;96;p2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97" name="Google Shape;97;p28"/>
          <p:cNvSpPr txBox="1"/>
          <p:nvPr>
            <p:ph type="title"/>
          </p:nvPr>
        </p:nvSpPr>
        <p:spPr>
          <a:xfrm>
            <a:off x="1024495" y="1124701"/>
            <a:ext cx="10146186"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8"/>
          <p:cNvSpPr txBox="1"/>
          <p:nvPr>
            <p:ph idx="1" type="body"/>
          </p:nvPr>
        </p:nvSpPr>
        <p:spPr>
          <a:xfrm>
            <a:off x="1024467" y="3648315"/>
            <a:ext cx="10144654" cy="9998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9" name="Google Shape;99;p28"/>
          <p:cNvSpPr txBox="1"/>
          <p:nvPr>
            <p:ph idx="10" type="dt"/>
          </p:nvPr>
        </p:nvSpPr>
        <p:spPr>
          <a:xfrm>
            <a:off x="7814452" y="378883"/>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8"/>
          <p:cNvSpPr txBox="1"/>
          <p:nvPr>
            <p:ph idx="11" type="ftr"/>
          </p:nvPr>
        </p:nvSpPr>
        <p:spPr>
          <a:xfrm>
            <a:off x="685800" y="378883"/>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29"/>
          <p:cNvSpPr txBox="1"/>
          <p:nvPr>
            <p:ph type="title"/>
          </p:nvPr>
        </p:nvSpPr>
        <p:spPr>
          <a:xfrm>
            <a:off x="2895600" y="761999"/>
            <a:ext cx="8610599" cy="1303867"/>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9"/>
          <p:cNvSpPr txBox="1"/>
          <p:nvPr>
            <p:ph idx="1" type="body"/>
          </p:nvPr>
        </p:nvSpPr>
        <p:spPr>
          <a:xfrm>
            <a:off x="685800" y="2202080"/>
            <a:ext cx="3456432" cy="61732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5" name="Google Shape;105;p29"/>
          <p:cNvSpPr txBox="1"/>
          <p:nvPr>
            <p:ph idx="2" type="body"/>
          </p:nvPr>
        </p:nvSpPr>
        <p:spPr>
          <a:xfrm>
            <a:off x="685799"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6" name="Google Shape;106;p29"/>
          <p:cNvSpPr txBox="1"/>
          <p:nvPr>
            <p:ph idx="3" type="body"/>
          </p:nvPr>
        </p:nvSpPr>
        <p:spPr>
          <a:xfrm>
            <a:off x="4368800" y="2201333"/>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29"/>
          <p:cNvSpPr txBox="1"/>
          <p:nvPr>
            <p:ph idx="4" type="body"/>
          </p:nvPr>
        </p:nvSpPr>
        <p:spPr>
          <a:xfrm>
            <a:off x="4366858" y="2904067"/>
            <a:ext cx="3456432" cy="331461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8" name="Google Shape;108;p29"/>
          <p:cNvSpPr txBox="1"/>
          <p:nvPr>
            <p:ph idx="5" type="body"/>
          </p:nvPr>
        </p:nvSpPr>
        <p:spPr>
          <a:xfrm>
            <a:off x="8051800" y="2192866"/>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9" name="Google Shape;109;p29"/>
          <p:cNvSpPr txBox="1"/>
          <p:nvPr>
            <p:ph idx="6" type="body"/>
          </p:nvPr>
        </p:nvSpPr>
        <p:spPr>
          <a:xfrm>
            <a:off x="8051801"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0" name="Google Shape;110;p2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3" name="Shape 113"/>
        <p:cNvGrpSpPr/>
        <p:nvPr/>
      </p:nvGrpSpPr>
      <p:grpSpPr>
        <a:xfrm>
          <a:off x="0" y="0"/>
          <a:ext cx="0" cy="0"/>
          <a:chOff x="0" y="0"/>
          <a:chExt cx="0" cy="0"/>
        </a:xfrm>
      </p:grpSpPr>
      <p:sp>
        <p:nvSpPr>
          <p:cNvPr id="114" name="Google Shape;114;p30"/>
          <p:cNvSpPr txBox="1"/>
          <p:nvPr>
            <p:ph type="title"/>
          </p:nvPr>
        </p:nvSpPr>
        <p:spPr>
          <a:xfrm>
            <a:off x="2895600" y="762000"/>
            <a:ext cx="8610599"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30"/>
          <p:cNvSpPr txBox="1"/>
          <p:nvPr>
            <p:ph idx="1" type="body"/>
          </p:nvPr>
        </p:nvSpPr>
        <p:spPr>
          <a:xfrm>
            <a:off x="688618" y="4191000"/>
            <a:ext cx="3451582"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6" name="Google Shape;116;p30"/>
          <p:cNvSpPr/>
          <p:nvPr>
            <p:ph idx="2" type="pic"/>
          </p:nvPr>
        </p:nvSpPr>
        <p:spPr>
          <a:xfrm>
            <a:off x="688618" y="2362200"/>
            <a:ext cx="3451582" cy="1524000"/>
          </a:xfrm>
          <a:prstGeom prst="roundRect">
            <a:avLst>
              <a:gd fmla="val 0" name="adj"/>
            </a:avLst>
          </a:prstGeom>
          <a:noFill/>
          <a:ln>
            <a:noFill/>
          </a:ln>
          <a:effectLst>
            <a:outerShdw blurRad="50800" rotWithShape="0" algn="tl" dir="5400000" dist="50800">
              <a:srgbClr val="000000">
                <a:alpha val="41568"/>
              </a:srgbClr>
            </a:outerShdw>
          </a:effectLst>
        </p:spPr>
      </p:sp>
      <p:sp>
        <p:nvSpPr>
          <p:cNvPr id="117" name="Google Shape;117;p30"/>
          <p:cNvSpPr txBox="1"/>
          <p:nvPr>
            <p:ph idx="3" type="body"/>
          </p:nvPr>
        </p:nvSpPr>
        <p:spPr>
          <a:xfrm>
            <a:off x="688618" y="4873764"/>
            <a:ext cx="3451582"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8" name="Google Shape;118;p30"/>
          <p:cNvSpPr txBox="1"/>
          <p:nvPr>
            <p:ph idx="4" type="body"/>
          </p:nvPr>
        </p:nvSpPr>
        <p:spPr>
          <a:xfrm>
            <a:off x="4374263" y="4191000"/>
            <a:ext cx="3448935"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9" name="Google Shape;119;p30"/>
          <p:cNvSpPr/>
          <p:nvPr>
            <p:ph idx="5" type="pic"/>
          </p:nvPr>
        </p:nvSpPr>
        <p:spPr>
          <a:xfrm>
            <a:off x="4374263" y="2362200"/>
            <a:ext cx="3448936" cy="1524000"/>
          </a:xfrm>
          <a:prstGeom prst="roundRect">
            <a:avLst>
              <a:gd fmla="val 0" name="adj"/>
            </a:avLst>
          </a:prstGeom>
          <a:noFill/>
          <a:ln>
            <a:noFill/>
          </a:ln>
          <a:effectLst>
            <a:outerShdw blurRad="50800" rotWithShape="0" algn="tl" dir="5400000" dist="50800">
              <a:srgbClr val="000000">
                <a:alpha val="41568"/>
              </a:srgbClr>
            </a:outerShdw>
          </a:effectLst>
        </p:spPr>
      </p:sp>
      <p:sp>
        <p:nvSpPr>
          <p:cNvPr id="120" name="Google Shape;120;p30"/>
          <p:cNvSpPr txBox="1"/>
          <p:nvPr>
            <p:ph idx="6" type="body"/>
          </p:nvPr>
        </p:nvSpPr>
        <p:spPr>
          <a:xfrm>
            <a:off x="4374264" y="4873763"/>
            <a:ext cx="344893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1" name="Google Shape;121;p30"/>
          <p:cNvSpPr txBox="1"/>
          <p:nvPr>
            <p:ph idx="7" type="body"/>
          </p:nvPr>
        </p:nvSpPr>
        <p:spPr>
          <a:xfrm>
            <a:off x="8049731" y="4191000"/>
            <a:ext cx="3456469"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2" name="Google Shape;122;p30"/>
          <p:cNvSpPr/>
          <p:nvPr>
            <p:ph idx="8" type="pic"/>
          </p:nvPr>
        </p:nvSpPr>
        <p:spPr>
          <a:xfrm>
            <a:off x="8049855" y="2362200"/>
            <a:ext cx="3447878" cy="1524000"/>
          </a:xfrm>
          <a:prstGeom prst="roundRect">
            <a:avLst>
              <a:gd fmla="val 0" name="adj"/>
            </a:avLst>
          </a:prstGeom>
          <a:noFill/>
          <a:ln>
            <a:noFill/>
          </a:ln>
          <a:effectLst>
            <a:outerShdw blurRad="50800" rotWithShape="0" algn="tl" dir="5400000" dist="50800">
              <a:srgbClr val="000000">
                <a:alpha val="41568"/>
              </a:srgbClr>
            </a:outerShdw>
          </a:effectLst>
        </p:spPr>
      </p:sp>
      <p:sp>
        <p:nvSpPr>
          <p:cNvPr id="123" name="Google Shape;123;p30"/>
          <p:cNvSpPr txBox="1"/>
          <p:nvPr>
            <p:ph idx="9" type="body"/>
          </p:nvPr>
        </p:nvSpPr>
        <p:spPr>
          <a:xfrm>
            <a:off x="8049731" y="4873761"/>
            <a:ext cx="345244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4" name="Google Shape;124;p3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3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1"/>
          <p:cNvSpPr txBox="1"/>
          <p:nvPr>
            <p:ph idx="1" type="body"/>
          </p:nvPr>
        </p:nvSpPr>
        <p:spPr>
          <a:xfrm rot="5400000">
            <a:off x="4083937" y="-1203579"/>
            <a:ext cx="4024125" cy="1082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0" name="Google Shape;130;p3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33" name="Shape 133"/>
        <p:cNvGrpSpPr/>
        <p:nvPr/>
      </p:nvGrpSpPr>
      <p:grpSpPr>
        <a:xfrm>
          <a:off x="0" y="0"/>
          <a:ext cx="0" cy="0"/>
          <a:chOff x="0" y="0"/>
          <a:chExt cx="0" cy="0"/>
        </a:xfrm>
      </p:grpSpPr>
      <p:pic>
        <p:nvPicPr>
          <p:cNvPr descr="C0-HD-BTM.png" id="134" name="Google Shape;134;p3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35" name="Google Shape;135;p32"/>
          <p:cNvSpPr txBox="1"/>
          <p:nvPr>
            <p:ph type="title"/>
          </p:nvPr>
        </p:nvSpPr>
        <p:spPr>
          <a:xfrm rot="5400000">
            <a:off x="8525933" y="1667933"/>
            <a:ext cx="3903133" cy="2057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2"/>
          <p:cNvSpPr txBox="1"/>
          <p:nvPr>
            <p:ph idx="1" type="body"/>
          </p:nvPr>
        </p:nvSpPr>
        <p:spPr>
          <a:xfrm rot="5400000">
            <a:off x="3175000" y="-1405467"/>
            <a:ext cx="3903133" cy="82042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7" name="Google Shape;137;p32"/>
          <p:cNvSpPr txBox="1"/>
          <p:nvPr>
            <p:ph idx="10" type="dt"/>
          </p:nvPr>
        </p:nvSpPr>
        <p:spPr>
          <a:xfrm>
            <a:off x="7814452" y="379941"/>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2"/>
          <p:cNvSpPr txBox="1"/>
          <p:nvPr>
            <p:ph idx="11" type="ftr"/>
          </p:nvPr>
        </p:nvSpPr>
        <p:spPr>
          <a:xfrm>
            <a:off x="685800" y="381000"/>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2"/>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pic>
        <p:nvPicPr>
          <p:cNvPr descr="C0-HD-TOP.png" id="6" name="Google Shape;6;p15"/>
          <p:cNvPicPr preferRelativeResize="0"/>
          <p:nvPr/>
        </p:nvPicPr>
        <p:blipFill rotWithShape="1">
          <a:blip r:embed="rId1">
            <a:alphaModFix/>
          </a:blip>
          <a:srcRect b="0" l="0" r="0" t="0"/>
          <a:stretch/>
        </p:blipFill>
        <p:spPr>
          <a:xfrm>
            <a:off x="0" y="0"/>
            <a:ext cx="12192000" cy="1441450"/>
          </a:xfrm>
          <a:prstGeom prst="rect">
            <a:avLst/>
          </a:prstGeom>
          <a:noFill/>
          <a:ln>
            <a:noFill/>
          </a:ln>
        </p:spPr>
      </p:pic>
      <p:sp>
        <p:nvSpPr>
          <p:cNvPr id="7" name="Google Shape;7;p1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marR="0" rtl="0" algn="r">
              <a:lnSpc>
                <a:spcPct val="90000"/>
              </a:lnSpc>
              <a:spcBef>
                <a:spcPts val="0"/>
              </a:spcBef>
              <a:spcAft>
                <a:spcPts val="0"/>
              </a:spcAft>
              <a:buClr>
                <a:schemeClr val="lt1"/>
              </a:buClr>
              <a:buSzPts val="4000"/>
              <a:buFont typeface="Century Gothic"/>
              <a:buNone/>
              <a:defRPr b="0" i="0" sz="40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5"/>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9" name="Google Shape;9;p1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0" name="Google Shape;10;p1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1" name="Google Shape;11;p1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cppcheck.sourceforge.io/" TargetMode="External"/><Relationship Id="rId4" Type="http://schemas.openxmlformats.org/officeDocument/2006/relationships/hyperlink" Target="https://clang.org/" TargetMode="External"/><Relationship Id="rId5" Type="http://schemas.openxmlformats.org/officeDocument/2006/relationships/hyperlink" Target="https://www.parasoft.com/" TargetMode="External"/><Relationship Id="rId6" Type="http://schemas.openxmlformats.org/officeDocument/2006/relationships/hyperlink" Target="https://www.papertrail.com/" TargetMode="External"/><Relationship Id="rId7"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iki.sei.cmu.edu/confluence/pages/viewpage.action?pageId=88046682" TargetMode="External"/><Relationship Id="rId4" Type="http://schemas.openxmlformats.org/officeDocument/2006/relationships/hyperlink" Target="https://nvlpubs.nist.gov/nistpubs/SpecialPublications/NIST.SP.800-209.pdf" TargetMode="External"/><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type="ctrTitle"/>
          </p:nvPr>
        </p:nvSpPr>
        <p:spPr>
          <a:xfrm>
            <a:off x="1371600" y="1790153"/>
            <a:ext cx="9448800" cy="182509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p:nvPr>
            <p:ph idx="1" type="subTitle"/>
          </p:nvPr>
        </p:nvSpPr>
        <p:spPr>
          <a:xfrm>
            <a:off x="1371600" y="3632200"/>
            <a:ext cx="9448800" cy="1561592"/>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Clr>
                <a:schemeClr val="lt1"/>
              </a:buClr>
              <a:buSzPts val="1850"/>
              <a:buNone/>
            </a:pPr>
            <a:r>
              <a:rPr lang="en-US" sz="1850"/>
              <a:t>Security Policy Presentation</a:t>
            </a:r>
            <a:endParaRPr/>
          </a:p>
          <a:p>
            <a:pPr indent="0" lvl="0" marL="0" rtl="0" algn="l">
              <a:lnSpc>
                <a:spcPct val="70000"/>
              </a:lnSpc>
              <a:spcBef>
                <a:spcPts val="1000"/>
              </a:spcBef>
              <a:spcAft>
                <a:spcPts val="0"/>
              </a:spcAft>
              <a:buClr>
                <a:schemeClr val="lt1"/>
              </a:buClr>
              <a:buSzPts val="1850"/>
              <a:buNone/>
            </a:pPr>
            <a:r>
              <a:rPr lang="en-US" sz="1850"/>
              <a:t>Developer: </a:t>
            </a:r>
            <a:r>
              <a:rPr i="1" lang="en-US" sz="1850"/>
              <a:t>Bret Thex</a:t>
            </a:r>
            <a:endParaRPr/>
          </a:p>
          <a:p>
            <a:pPr indent="0" lvl="0" marL="0" rtl="0" algn="l">
              <a:lnSpc>
                <a:spcPct val="70000"/>
              </a:lnSpc>
              <a:spcBef>
                <a:spcPts val="1000"/>
              </a:spcBef>
              <a:spcAft>
                <a:spcPts val="0"/>
              </a:spcAft>
              <a:buSzPts val="1850"/>
              <a:buNone/>
            </a:pPr>
            <a:r>
              <a:t/>
            </a:r>
            <a:endParaRPr i="1"/>
          </a:p>
        </p:txBody>
      </p:sp>
      <p:pic>
        <p:nvPicPr>
          <p:cNvPr descr="Green Pace logo" id="146" name="Google Shape;146;p1"/>
          <p:cNvPicPr preferRelativeResize="0"/>
          <p:nvPr/>
        </p:nvPicPr>
        <p:blipFill rotWithShape="1">
          <a:blip r:embed="rId3">
            <a:alphaModFix/>
          </a:blip>
          <a:srcRect b="0" l="0" r="0" t="0"/>
          <a:stretch/>
        </p:blipFill>
        <p:spPr>
          <a:xfrm>
            <a:off x="7440774" y="659854"/>
            <a:ext cx="2921424" cy="378677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
          <p:cNvSpPr txBox="1"/>
          <p:nvPr>
            <p:ph type="title"/>
          </p:nvPr>
        </p:nvSpPr>
        <p:spPr>
          <a:xfrm>
            <a:off x="1790700" y="274198"/>
            <a:ext cx="86106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p:nvPr>
            <p:ph idx="1" type="body"/>
          </p:nvPr>
        </p:nvSpPr>
        <p:spPr>
          <a:xfrm>
            <a:off x="409275" y="1366250"/>
            <a:ext cx="3809100" cy="48525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SzPts val="1800"/>
              <a:buNone/>
            </a:pPr>
            <a:r>
              <a:rPr lang="en-US" sz="2350"/>
              <a:t>This Security contains policies, standards, principles, and best practices that help prevent the threat of potential security vulnerabilities in both code development and systems architecture.</a:t>
            </a:r>
            <a:endParaRPr sz="2550"/>
          </a:p>
          <a:p>
            <a:pPr indent="0" lvl="0" marL="0" rtl="0" algn="l">
              <a:lnSpc>
                <a:spcPct val="90000"/>
              </a:lnSpc>
              <a:spcBef>
                <a:spcPts val="1000"/>
              </a:spcBef>
              <a:spcAft>
                <a:spcPts val="0"/>
              </a:spcAft>
              <a:buClr>
                <a:schemeClr val="lt1"/>
              </a:buClr>
              <a:buSzPts val="2200"/>
              <a:buNone/>
            </a:pPr>
            <a:r>
              <a:t/>
            </a:r>
            <a:endParaRPr/>
          </a:p>
        </p:txBody>
      </p:sp>
      <p:pic>
        <p:nvPicPr>
          <p:cNvPr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id="153" name="Google Shape;153;p3"/>
          <p:cNvPicPr preferRelativeResize="0"/>
          <p:nvPr/>
        </p:nvPicPr>
        <p:blipFill rotWithShape="1">
          <a:blip r:embed="rId3">
            <a:alphaModFix/>
          </a:blip>
          <a:srcRect b="0" l="0" r="0" t="0"/>
          <a:stretch/>
        </p:blipFill>
        <p:spPr>
          <a:xfrm>
            <a:off x="4495025" y="1366249"/>
            <a:ext cx="7361733" cy="4332062"/>
          </a:xfrm>
          <a:prstGeom prst="rect">
            <a:avLst/>
          </a:prstGeom>
          <a:noFill/>
          <a:ln>
            <a:noFill/>
          </a:ln>
        </p:spPr>
      </p:pic>
      <p:pic>
        <p:nvPicPr>
          <p:cNvPr descr="Green Pace logo" id="154" name="Google Shape;154;p3"/>
          <p:cNvPicPr preferRelativeResize="0"/>
          <p:nvPr/>
        </p:nvPicPr>
        <p:blipFill rotWithShape="1">
          <a:blip r:embed="rId4">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p:nvPr>
            <p:ph idx="1" type="body"/>
          </p:nvPr>
        </p:nvSpPr>
        <p:spPr>
          <a:xfrm>
            <a:off x="685800" y="2194550"/>
            <a:ext cx="2486100" cy="4024200"/>
          </a:xfrm>
          <a:prstGeom prst="rect">
            <a:avLst/>
          </a:prstGeom>
          <a:noFill/>
          <a:ln>
            <a:noFill/>
          </a:ln>
        </p:spPr>
        <p:txBody>
          <a:bodyPr anchorCtr="0" anchor="t" bIns="45700" lIns="91425" spcFirstLastPara="1" rIns="91425" wrap="square" tIns="45700">
            <a:normAutofit/>
          </a:bodyPr>
          <a:lstStyle/>
          <a:p>
            <a:pPr indent="-355600" lvl="0" marL="457200" rtl="0" algn="l">
              <a:lnSpc>
                <a:spcPct val="90000"/>
              </a:lnSpc>
              <a:spcBef>
                <a:spcPts val="1000"/>
              </a:spcBef>
              <a:spcAft>
                <a:spcPts val="0"/>
              </a:spcAft>
              <a:buClr>
                <a:srgbClr val="FFFFFF"/>
              </a:buClr>
              <a:buSzPts val="2000"/>
              <a:buChar char="•"/>
            </a:pPr>
            <a:r>
              <a:rPr lang="en-US" sz="2000">
                <a:solidFill>
                  <a:srgbClr val="FFFFFF"/>
                </a:solidFill>
              </a:rPr>
              <a:t>The highest priority threats should be handle ASAP.</a:t>
            </a:r>
            <a:endParaRPr sz="2000">
              <a:solidFill>
                <a:srgbClr val="FFFFFF"/>
              </a:solidFill>
            </a:endParaRPr>
          </a:p>
          <a:p>
            <a:pPr indent="0" lvl="0" marL="0" rtl="0" algn="l">
              <a:lnSpc>
                <a:spcPct val="90000"/>
              </a:lnSpc>
              <a:spcBef>
                <a:spcPts val="1000"/>
              </a:spcBef>
              <a:spcAft>
                <a:spcPts val="0"/>
              </a:spcAft>
              <a:buNone/>
            </a:pPr>
            <a:r>
              <a:t/>
            </a:r>
            <a:endParaRPr sz="2000">
              <a:solidFill>
                <a:srgbClr val="FFFFFF"/>
              </a:solidFill>
            </a:endParaRPr>
          </a:p>
          <a:p>
            <a:pPr indent="0" lvl="0" marL="0" rtl="0" algn="l">
              <a:lnSpc>
                <a:spcPct val="90000"/>
              </a:lnSpc>
              <a:spcBef>
                <a:spcPts val="1000"/>
              </a:spcBef>
              <a:spcAft>
                <a:spcPts val="0"/>
              </a:spcAft>
              <a:buNone/>
            </a:pPr>
            <a:r>
              <a:t/>
            </a:r>
            <a:endParaRPr sz="2000">
              <a:solidFill>
                <a:srgbClr val="FFFFFF"/>
              </a:solidFill>
            </a:endParaRPr>
          </a:p>
          <a:p>
            <a:pPr indent="-355600" lvl="0" marL="457200" rtl="0" algn="l">
              <a:lnSpc>
                <a:spcPct val="90000"/>
              </a:lnSpc>
              <a:spcBef>
                <a:spcPts val="1000"/>
              </a:spcBef>
              <a:spcAft>
                <a:spcPts val="0"/>
              </a:spcAft>
              <a:buClr>
                <a:srgbClr val="FFFFFF"/>
              </a:buClr>
              <a:buSzPts val="2000"/>
              <a:buChar char="•"/>
            </a:pPr>
            <a:r>
              <a:rPr lang="en-US" sz="2000">
                <a:solidFill>
                  <a:srgbClr val="FFFFFF"/>
                </a:solidFill>
              </a:rPr>
              <a:t>The lowest priority issues </a:t>
            </a:r>
            <a:r>
              <a:rPr lang="en-US" sz="2000">
                <a:solidFill>
                  <a:srgbClr val="FFFFFF"/>
                </a:solidFill>
              </a:rPr>
              <a:t>should</a:t>
            </a:r>
            <a:r>
              <a:rPr lang="en-US" sz="2000">
                <a:solidFill>
                  <a:srgbClr val="FFFFFF"/>
                </a:solidFill>
              </a:rPr>
              <a:t> not be </a:t>
            </a:r>
            <a:r>
              <a:rPr lang="en-US" sz="2000">
                <a:solidFill>
                  <a:srgbClr val="FFFFFF"/>
                </a:solidFill>
              </a:rPr>
              <a:t>forgotten.</a:t>
            </a:r>
            <a:endParaRPr sz="2000">
              <a:solidFill>
                <a:srgbClr val="FFFFFF"/>
              </a:solidFill>
            </a:endParaRPr>
          </a:p>
        </p:txBody>
      </p:sp>
      <p:graphicFrame>
        <p:nvGraphicFramePr>
          <p:cNvPr descr="Alt text required" id="161" name="Google Shape;161;p4"/>
          <p:cNvGraphicFramePr/>
          <p:nvPr/>
        </p:nvGraphicFramePr>
        <p:xfrm>
          <a:off x="3171900" y="2561050"/>
          <a:ext cx="3000000" cy="3000000"/>
        </p:xfrm>
        <a:graphic>
          <a:graphicData uri="http://schemas.openxmlformats.org/drawingml/2006/table">
            <a:tbl>
              <a:tblPr firstCol="1" firstRow="1">
                <a:noFill/>
                <a:tableStyleId>{D9B2E925-1B7E-417F-B357-E21988439392}</a:tableStyleId>
              </a:tblPr>
              <a:tblGrid>
                <a:gridCol w="4030425"/>
                <a:gridCol w="3804800"/>
              </a:tblGrid>
              <a:tr h="1769325">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FD966"/>
                          </a:solidFill>
                        </a:rPr>
                        <a:t>Likely</a:t>
                      </a:r>
                      <a:endParaRPr sz="1400" u="none" cap="none" strike="noStrike"/>
                    </a:p>
                    <a:p>
                      <a:pPr indent="0" lvl="0" marL="0" marR="0" rtl="0" algn="ctr">
                        <a:lnSpc>
                          <a:spcPct val="100000"/>
                        </a:lnSpc>
                        <a:spcBef>
                          <a:spcPts val="0"/>
                        </a:spcBef>
                        <a:spcAft>
                          <a:spcPts val="0"/>
                        </a:spcAft>
                        <a:buClr>
                          <a:srgbClr val="000000"/>
                        </a:buClr>
                        <a:buSzPts val="3600"/>
                        <a:buFont typeface="Arial"/>
                        <a:buNone/>
                      </a:pPr>
                      <a:r>
                        <a:rPr lang="en-US" sz="1500">
                          <a:solidFill>
                            <a:schemeClr val="dk1"/>
                          </a:solidFill>
                        </a:rPr>
                        <a:t>STD-003-CPP</a:t>
                      </a:r>
                      <a:endParaRPr sz="1500">
                        <a:solidFill>
                          <a:schemeClr val="dk1"/>
                        </a:solidFill>
                      </a:endParaRPr>
                    </a:p>
                    <a:p>
                      <a:pPr indent="0" lvl="0" marL="0" marR="0" rtl="0" algn="ctr">
                        <a:lnSpc>
                          <a:spcPct val="100000"/>
                        </a:lnSpc>
                        <a:spcBef>
                          <a:spcPts val="0"/>
                        </a:spcBef>
                        <a:spcAft>
                          <a:spcPts val="0"/>
                        </a:spcAft>
                        <a:buClr>
                          <a:srgbClr val="000000"/>
                        </a:buClr>
                        <a:buSzPts val="3600"/>
                        <a:buFont typeface="Arial"/>
                        <a:buNone/>
                      </a:pPr>
                      <a:r>
                        <a:rPr lang="en-US" sz="1500">
                          <a:solidFill>
                            <a:schemeClr val="dk1"/>
                          </a:solidFill>
                        </a:rPr>
                        <a:t>STD-005-CPP</a:t>
                      </a:r>
                      <a:endParaRPr sz="1500">
                        <a:solidFill>
                          <a:schemeClr val="dk1"/>
                        </a:solidFill>
                      </a:endParaRPr>
                    </a:p>
                    <a:p>
                      <a:pPr indent="0" lvl="0" marL="0" marR="0" rtl="0" algn="ctr">
                        <a:lnSpc>
                          <a:spcPct val="100000"/>
                        </a:lnSpc>
                        <a:spcBef>
                          <a:spcPts val="0"/>
                        </a:spcBef>
                        <a:spcAft>
                          <a:spcPts val="0"/>
                        </a:spcAft>
                        <a:buClr>
                          <a:srgbClr val="000000"/>
                        </a:buClr>
                        <a:buSzPts val="3600"/>
                        <a:buFont typeface="Arial"/>
                        <a:buNone/>
                      </a:pPr>
                      <a:r>
                        <a:rPr lang="en-US" sz="1500">
                          <a:solidFill>
                            <a:schemeClr val="dk1"/>
                          </a:solidFill>
                        </a:rPr>
                        <a:t>STD-010-CPP</a:t>
                      </a:r>
                      <a:endParaRPr sz="1500">
                        <a:solidFill>
                          <a:schemeClr val="dk1"/>
                        </a:solidFill>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FD966"/>
                          </a:solidFill>
                        </a:rPr>
                        <a:t>Priority</a:t>
                      </a:r>
                      <a:endParaRPr sz="1400" u="none" cap="none" strike="noStrike"/>
                    </a:p>
                    <a:p>
                      <a:pPr indent="0" lvl="0" marL="0" rtl="0" algn="ctr">
                        <a:spcBef>
                          <a:spcPts val="0"/>
                        </a:spcBef>
                        <a:spcAft>
                          <a:spcPts val="0"/>
                        </a:spcAft>
                        <a:buClr>
                          <a:schemeClr val="dk1"/>
                        </a:buClr>
                        <a:buSzPts val="3600"/>
                        <a:buFont typeface="Arial"/>
                        <a:buNone/>
                      </a:pPr>
                      <a:r>
                        <a:rPr lang="en-US" sz="1500">
                          <a:solidFill>
                            <a:schemeClr val="dk1"/>
                          </a:solidFill>
                        </a:rPr>
                        <a:t>STD-003-CPP - P18</a:t>
                      </a:r>
                      <a:endParaRPr sz="1500">
                        <a:solidFill>
                          <a:schemeClr val="dk1"/>
                        </a:solidFill>
                      </a:endParaRPr>
                    </a:p>
                    <a:p>
                      <a:pPr indent="0" lvl="0" marL="0" rtl="0" algn="ctr">
                        <a:spcBef>
                          <a:spcPts val="0"/>
                        </a:spcBef>
                        <a:spcAft>
                          <a:spcPts val="0"/>
                        </a:spcAft>
                        <a:buClr>
                          <a:schemeClr val="dk1"/>
                        </a:buClr>
                        <a:buSzPts val="3600"/>
                        <a:buFont typeface="Arial"/>
                        <a:buNone/>
                      </a:pPr>
                      <a:r>
                        <a:rPr lang="en-US" sz="1500">
                          <a:solidFill>
                            <a:schemeClr val="dk1"/>
                          </a:solidFill>
                        </a:rPr>
                        <a:t>STD-005-CPP - P18</a:t>
                      </a:r>
                      <a:endParaRPr sz="1500">
                        <a:solidFill>
                          <a:schemeClr val="dk1"/>
                        </a:solidFill>
                      </a:endParaRPr>
                    </a:p>
                    <a:p>
                      <a:pPr indent="0" lvl="0" marL="0" rtl="0" algn="ctr">
                        <a:spcBef>
                          <a:spcPts val="0"/>
                        </a:spcBef>
                        <a:spcAft>
                          <a:spcPts val="0"/>
                        </a:spcAft>
                        <a:buClr>
                          <a:schemeClr val="dk1"/>
                        </a:buClr>
                        <a:buSzPts val="3600"/>
                        <a:buFont typeface="Arial"/>
                        <a:buNone/>
                      </a:pPr>
                      <a:r>
                        <a:rPr lang="en-US" sz="1500">
                          <a:solidFill>
                            <a:schemeClr val="dk1"/>
                          </a:solidFill>
                        </a:rPr>
                        <a:t>STD-010-CPP - P18</a:t>
                      </a:r>
                      <a:endParaRPr sz="1500">
                        <a:solidFill>
                          <a:schemeClr val="dk1"/>
                        </a:solidFill>
                      </a:endParaRPr>
                    </a:p>
                    <a:p>
                      <a:pPr indent="0" lvl="0" marL="0" rtl="0" algn="ctr">
                        <a:spcBef>
                          <a:spcPts val="0"/>
                        </a:spcBef>
                        <a:spcAft>
                          <a:spcPts val="0"/>
                        </a:spcAft>
                        <a:buClr>
                          <a:schemeClr val="dk1"/>
                        </a:buClr>
                        <a:buSzPts val="3600"/>
                        <a:buFont typeface="Arial"/>
                        <a:buNone/>
                      </a:pPr>
                      <a:r>
                        <a:rPr lang="en-US" sz="1500">
                          <a:solidFill>
                            <a:schemeClr val="dk1"/>
                          </a:solidFill>
                        </a:rPr>
                        <a:t>STD-002-CPP - P6</a:t>
                      </a:r>
                      <a:endParaRPr sz="1500">
                        <a:solidFill>
                          <a:schemeClr val="dk1"/>
                        </a:solidFill>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r>
              <a:tr h="1769325">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FD966"/>
                          </a:solidFill>
                        </a:rPr>
                        <a:t>Low priority</a:t>
                      </a:r>
                      <a:endParaRPr sz="1400" u="none" cap="none" strike="noStrike"/>
                    </a:p>
                    <a:p>
                      <a:pPr indent="0" lvl="0" marL="0" rtl="0" algn="ctr">
                        <a:spcBef>
                          <a:spcPts val="0"/>
                        </a:spcBef>
                        <a:spcAft>
                          <a:spcPts val="0"/>
                        </a:spcAft>
                        <a:buClr>
                          <a:schemeClr val="dk1"/>
                        </a:buClr>
                        <a:buSzPts val="3600"/>
                        <a:buFont typeface="Arial"/>
                        <a:buNone/>
                      </a:pPr>
                      <a:r>
                        <a:rPr lang="en-US" sz="1500">
                          <a:solidFill>
                            <a:schemeClr val="dk1"/>
                          </a:solidFill>
                        </a:rPr>
                        <a:t>STD-001-CPP - P3</a:t>
                      </a:r>
                      <a:endParaRPr sz="1500">
                        <a:solidFill>
                          <a:schemeClr val="dk1"/>
                        </a:solidFill>
                      </a:endParaRPr>
                    </a:p>
                    <a:p>
                      <a:pPr indent="0" lvl="0" marL="0" rtl="0" algn="ctr">
                        <a:spcBef>
                          <a:spcPts val="0"/>
                        </a:spcBef>
                        <a:spcAft>
                          <a:spcPts val="0"/>
                        </a:spcAft>
                        <a:buClr>
                          <a:schemeClr val="dk1"/>
                        </a:buClr>
                        <a:buSzPts val="3600"/>
                        <a:buFont typeface="Arial"/>
                        <a:buNone/>
                      </a:pPr>
                      <a:r>
                        <a:rPr lang="en-US" sz="1500">
                          <a:solidFill>
                            <a:schemeClr val="dk1"/>
                          </a:solidFill>
                        </a:rPr>
                        <a:t>STD-006-CPP - P1</a:t>
                      </a:r>
                      <a:endParaRPr sz="1500">
                        <a:solidFill>
                          <a:schemeClr val="dk1"/>
                        </a:solidFill>
                      </a:endParaRPr>
                    </a:p>
                    <a:p>
                      <a:pPr indent="0" lvl="0" marL="0" rtl="0" algn="ctr">
                        <a:spcBef>
                          <a:spcPts val="0"/>
                        </a:spcBef>
                        <a:spcAft>
                          <a:spcPts val="0"/>
                        </a:spcAft>
                        <a:buClr>
                          <a:schemeClr val="dk1"/>
                        </a:buClr>
                        <a:buSzPts val="3600"/>
                        <a:buFont typeface="Arial"/>
                        <a:buNone/>
                      </a:pPr>
                      <a:r>
                        <a:rPr lang="en-US" sz="1500">
                          <a:solidFill>
                            <a:schemeClr val="dk1"/>
                          </a:solidFill>
                        </a:rPr>
                        <a:t>STD-008-CPP - P1</a:t>
                      </a:r>
                      <a:endParaRPr sz="3600">
                        <a:solidFill>
                          <a:srgbClr val="FFD966"/>
                        </a:solidFill>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FD966"/>
                          </a:solidFill>
                        </a:rPr>
                        <a:t>Unlikely</a:t>
                      </a:r>
                      <a:endParaRPr sz="1400" u="none" cap="none" strike="noStrike"/>
                    </a:p>
                    <a:p>
                      <a:pPr indent="0" lvl="0" marL="0" marR="0" rtl="0" algn="ctr">
                        <a:lnSpc>
                          <a:spcPct val="100000"/>
                        </a:lnSpc>
                        <a:spcBef>
                          <a:spcPts val="0"/>
                        </a:spcBef>
                        <a:spcAft>
                          <a:spcPts val="0"/>
                        </a:spcAft>
                        <a:buClr>
                          <a:srgbClr val="000000"/>
                        </a:buClr>
                        <a:buSzPts val="3600"/>
                        <a:buFont typeface="Arial"/>
                        <a:buNone/>
                      </a:pPr>
                      <a:r>
                        <a:rPr lang="en-US" sz="1500"/>
                        <a:t>STD-001-CPP</a:t>
                      </a:r>
                      <a:endParaRPr sz="1500"/>
                    </a:p>
                    <a:p>
                      <a:pPr indent="0" lvl="0" marL="0" marR="0" rtl="0" algn="ctr">
                        <a:lnSpc>
                          <a:spcPct val="100000"/>
                        </a:lnSpc>
                        <a:spcBef>
                          <a:spcPts val="0"/>
                        </a:spcBef>
                        <a:spcAft>
                          <a:spcPts val="0"/>
                        </a:spcAft>
                        <a:buClr>
                          <a:srgbClr val="000000"/>
                        </a:buClr>
                        <a:buSzPts val="3600"/>
                        <a:buFont typeface="Arial"/>
                        <a:buNone/>
                      </a:pPr>
                      <a:r>
                        <a:rPr lang="en-US" sz="1500"/>
                        <a:t>STD-006-CPP</a:t>
                      </a:r>
                      <a:endParaRPr sz="1500"/>
                    </a:p>
                    <a:p>
                      <a:pPr indent="0" lvl="0" marL="0" marR="0" rtl="0" algn="ctr">
                        <a:lnSpc>
                          <a:spcPct val="100000"/>
                        </a:lnSpc>
                        <a:spcBef>
                          <a:spcPts val="0"/>
                        </a:spcBef>
                        <a:spcAft>
                          <a:spcPts val="0"/>
                        </a:spcAft>
                        <a:buClr>
                          <a:srgbClr val="000000"/>
                        </a:buClr>
                        <a:buSzPts val="3600"/>
                        <a:buFont typeface="Arial"/>
                        <a:buNone/>
                      </a:pPr>
                      <a:r>
                        <a:rPr lang="en-US" sz="1500"/>
                        <a:t>STD-008-CPP</a:t>
                      </a:r>
                      <a:endParaRPr sz="1500"/>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r>
            </a:tbl>
          </a:graphicData>
        </a:graphic>
      </p:graphicFrame>
      <p:pic>
        <p:nvPicPr>
          <p:cNvPr descr="Green Pace logo" id="162" name="Google Shape;162;p4"/>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p:nvPr>
            <p:ph idx="1" type="body"/>
          </p:nvPr>
        </p:nvSpPr>
        <p:spPr>
          <a:xfrm>
            <a:off x="685800" y="2194550"/>
            <a:ext cx="5410200" cy="4024200"/>
          </a:xfrm>
          <a:prstGeom prst="rect">
            <a:avLst/>
          </a:prstGeom>
          <a:noFill/>
          <a:ln>
            <a:noFill/>
          </a:ln>
        </p:spPr>
        <p:txBody>
          <a:bodyPr anchorCtr="0" anchor="t" bIns="45700" lIns="91425" spcFirstLastPara="1" rIns="91425" wrap="square" tIns="45700">
            <a:normAutofit/>
          </a:bodyPr>
          <a:lstStyle/>
          <a:p>
            <a:pPr indent="-201295" lvl="0" marL="228600" rtl="0" algn="l">
              <a:lnSpc>
                <a:spcPct val="70000"/>
              </a:lnSpc>
              <a:spcBef>
                <a:spcPts val="0"/>
              </a:spcBef>
              <a:spcAft>
                <a:spcPts val="0"/>
              </a:spcAft>
              <a:buClr>
                <a:schemeClr val="lt1"/>
              </a:buClr>
              <a:buSzPts val="1770"/>
              <a:buChar char="•"/>
            </a:pPr>
            <a:r>
              <a:rPr lang="en-US" sz="1770"/>
              <a:t>Validate Input Data</a:t>
            </a:r>
            <a:endParaRPr sz="1770"/>
          </a:p>
          <a:p>
            <a:pPr indent="-319405" lvl="1" marL="914400" rtl="0" algn="l">
              <a:lnSpc>
                <a:spcPct val="70000"/>
              </a:lnSpc>
              <a:spcBef>
                <a:spcPts val="0"/>
              </a:spcBef>
              <a:spcAft>
                <a:spcPts val="0"/>
              </a:spcAft>
              <a:buSzPts val="1430"/>
              <a:buChar char="•"/>
            </a:pPr>
            <a:r>
              <a:rPr lang="en-US" sz="1600"/>
              <a:t>STD-004-CPP</a:t>
            </a:r>
            <a:endParaRPr sz="1600"/>
          </a:p>
          <a:p>
            <a:pPr indent="0" lvl="0" marL="914400" rtl="0" algn="l">
              <a:lnSpc>
                <a:spcPct val="70000"/>
              </a:lnSpc>
              <a:spcBef>
                <a:spcPts val="0"/>
              </a:spcBef>
              <a:spcAft>
                <a:spcPts val="0"/>
              </a:spcAft>
              <a:buSzPts val="935"/>
              <a:buNone/>
            </a:pPr>
            <a:r>
              <a:t/>
            </a:r>
            <a:endParaRPr sz="1770"/>
          </a:p>
          <a:p>
            <a:pPr indent="-179705" lvl="0" marL="228600" rtl="0" algn="l">
              <a:lnSpc>
                <a:spcPct val="70000"/>
              </a:lnSpc>
              <a:spcBef>
                <a:spcPts val="0"/>
              </a:spcBef>
              <a:spcAft>
                <a:spcPts val="0"/>
              </a:spcAft>
              <a:buSzPts val="1430"/>
              <a:buChar char="•"/>
            </a:pPr>
            <a:r>
              <a:rPr lang="en-US" sz="1770"/>
              <a:t>Heed Compiler Warnings</a:t>
            </a:r>
            <a:endParaRPr sz="1770"/>
          </a:p>
          <a:p>
            <a:pPr indent="-319405" lvl="1" marL="914400" rtl="0" algn="l">
              <a:lnSpc>
                <a:spcPct val="70000"/>
              </a:lnSpc>
              <a:spcBef>
                <a:spcPts val="0"/>
              </a:spcBef>
              <a:spcAft>
                <a:spcPts val="0"/>
              </a:spcAft>
              <a:buSzPts val="1430"/>
              <a:buChar char="•"/>
            </a:pPr>
            <a:r>
              <a:rPr lang="en-US" sz="1600"/>
              <a:t>STD-001-CPP</a:t>
            </a:r>
            <a:endParaRPr sz="1600"/>
          </a:p>
          <a:p>
            <a:pPr indent="-319405" lvl="1" marL="914400" rtl="0" algn="l">
              <a:lnSpc>
                <a:spcPct val="70000"/>
              </a:lnSpc>
              <a:spcBef>
                <a:spcPts val="0"/>
              </a:spcBef>
              <a:spcAft>
                <a:spcPts val="0"/>
              </a:spcAft>
              <a:buSzPts val="1430"/>
              <a:buChar char="•"/>
            </a:pPr>
            <a:r>
              <a:rPr lang="en-US" sz="1600"/>
              <a:t>STD-002-CPP</a:t>
            </a:r>
            <a:endParaRPr sz="1600"/>
          </a:p>
          <a:p>
            <a:pPr indent="0" lvl="0" marL="914400" rtl="0" algn="l">
              <a:lnSpc>
                <a:spcPct val="70000"/>
              </a:lnSpc>
              <a:spcBef>
                <a:spcPts val="0"/>
              </a:spcBef>
              <a:spcAft>
                <a:spcPts val="0"/>
              </a:spcAft>
              <a:buSzPts val="935"/>
              <a:buNone/>
            </a:pPr>
            <a:r>
              <a:t/>
            </a:r>
            <a:endParaRPr sz="1770"/>
          </a:p>
          <a:p>
            <a:pPr indent="-179705" lvl="0" marL="228600" rtl="0" algn="l">
              <a:lnSpc>
                <a:spcPct val="70000"/>
              </a:lnSpc>
              <a:spcBef>
                <a:spcPts val="0"/>
              </a:spcBef>
              <a:spcAft>
                <a:spcPts val="0"/>
              </a:spcAft>
              <a:buSzPts val="1430"/>
              <a:buChar char="•"/>
            </a:pPr>
            <a:r>
              <a:rPr lang="en-US" sz="1770"/>
              <a:t>Architect and Design for Security Policies</a:t>
            </a:r>
            <a:endParaRPr sz="1770"/>
          </a:p>
          <a:p>
            <a:pPr indent="-319405" lvl="1" marL="914400" rtl="0" algn="l">
              <a:lnSpc>
                <a:spcPct val="70000"/>
              </a:lnSpc>
              <a:spcBef>
                <a:spcPts val="0"/>
              </a:spcBef>
              <a:spcAft>
                <a:spcPts val="0"/>
              </a:spcAft>
              <a:buSzPts val="1430"/>
              <a:buChar char="•"/>
            </a:pPr>
            <a:r>
              <a:rPr lang="en-US" sz="1600"/>
              <a:t>STD-003</a:t>
            </a:r>
            <a:r>
              <a:rPr lang="en-US" sz="1600"/>
              <a:t>-CPP</a:t>
            </a:r>
            <a:endParaRPr sz="1600"/>
          </a:p>
          <a:p>
            <a:pPr indent="-319405" lvl="1" marL="914400" rtl="0" algn="l">
              <a:lnSpc>
                <a:spcPct val="70000"/>
              </a:lnSpc>
              <a:spcBef>
                <a:spcPts val="0"/>
              </a:spcBef>
              <a:spcAft>
                <a:spcPts val="0"/>
              </a:spcAft>
              <a:buSzPts val="1430"/>
              <a:buChar char="•"/>
            </a:pPr>
            <a:r>
              <a:rPr lang="en-US" sz="1600"/>
              <a:t>STD-005-CPP</a:t>
            </a:r>
            <a:endParaRPr sz="1600"/>
          </a:p>
          <a:p>
            <a:pPr indent="-319405" lvl="1" marL="914400" rtl="0" algn="l">
              <a:lnSpc>
                <a:spcPct val="70000"/>
              </a:lnSpc>
              <a:spcBef>
                <a:spcPts val="0"/>
              </a:spcBef>
              <a:spcAft>
                <a:spcPts val="0"/>
              </a:spcAft>
              <a:buSzPts val="1430"/>
              <a:buChar char="•"/>
            </a:pPr>
            <a:r>
              <a:rPr lang="en-US" sz="1600"/>
              <a:t>STD-007-CPP</a:t>
            </a:r>
            <a:endParaRPr sz="1600"/>
          </a:p>
          <a:p>
            <a:pPr indent="-319405" lvl="1" marL="914400" rtl="0" algn="l">
              <a:lnSpc>
                <a:spcPct val="70000"/>
              </a:lnSpc>
              <a:spcBef>
                <a:spcPts val="0"/>
              </a:spcBef>
              <a:spcAft>
                <a:spcPts val="0"/>
              </a:spcAft>
              <a:buSzPts val="1430"/>
              <a:buChar char="•"/>
            </a:pPr>
            <a:r>
              <a:rPr lang="en-US" sz="1600"/>
              <a:t>STD-008-CPP</a:t>
            </a:r>
            <a:endParaRPr sz="1600"/>
          </a:p>
          <a:p>
            <a:pPr indent="-319405" lvl="1" marL="914400" rtl="0" algn="l">
              <a:lnSpc>
                <a:spcPct val="70000"/>
              </a:lnSpc>
              <a:spcBef>
                <a:spcPts val="0"/>
              </a:spcBef>
              <a:spcAft>
                <a:spcPts val="0"/>
              </a:spcAft>
              <a:buSzPts val="1430"/>
              <a:buChar char="•"/>
            </a:pPr>
            <a:r>
              <a:rPr lang="en-US" sz="1600"/>
              <a:t>STD-009-CPP</a:t>
            </a:r>
            <a:endParaRPr sz="1600"/>
          </a:p>
          <a:p>
            <a:pPr indent="0" lvl="0" marL="914400" rtl="0" algn="l">
              <a:lnSpc>
                <a:spcPct val="70000"/>
              </a:lnSpc>
              <a:spcBef>
                <a:spcPts val="0"/>
              </a:spcBef>
              <a:spcAft>
                <a:spcPts val="0"/>
              </a:spcAft>
              <a:buSzPts val="935"/>
              <a:buNone/>
            </a:pPr>
            <a:r>
              <a:t/>
            </a:r>
            <a:endParaRPr sz="1770"/>
          </a:p>
          <a:p>
            <a:pPr indent="-179705" lvl="0" marL="228600" rtl="0" algn="l">
              <a:lnSpc>
                <a:spcPct val="70000"/>
              </a:lnSpc>
              <a:spcBef>
                <a:spcPts val="0"/>
              </a:spcBef>
              <a:spcAft>
                <a:spcPts val="0"/>
              </a:spcAft>
              <a:buSzPts val="1430"/>
              <a:buChar char="•"/>
            </a:pPr>
            <a:r>
              <a:rPr lang="en-US" sz="1770"/>
              <a:t>Keep It Simple</a:t>
            </a:r>
            <a:endParaRPr sz="1770"/>
          </a:p>
          <a:p>
            <a:pPr indent="-319405" lvl="1" marL="914400" rtl="0" algn="l">
              <a:lnSpc>
                <a:spcPct val="70000"/>
              </a:lnSpc>
              <a:spcBef>
                <a:spcPts val="0"/>
              </a:spcBef>
              <a:spcAft>
                <a:spcPts val="0"/>
              </a:spcAft>
              <a:buSzPts val="1430"/>
              <a:buChar char="•"/>
            </a:pPr>
            <a:r>
              <a:rPr lang="en-US" sz="1600"/>
              <a:t>STD-002-CPP</a:t>
            </a:r>
            <a:endParaRPr sz="1600"/>
          </a:p>
          <a:p>
            <a:pPr indent="-319405" lvl="1" marL="914400" rtl="0" algn="l">
              <a:lnSpc>
                <a:spcPct val="70000"/>
              </a:lnSpc>
              <a:spcBef>
                <a:spcPts val="0"/>
              </a:spcBef>
              <a:spcAft>
                <a:spcPts val="0"/>
              </a:spcAft>
              <a:buSzPts val="1430"/>
              <a:buChar char="•"/>
            </a:pPr>
            <a:r>
              <a:rPr lang="en-US" sz="1600"/>
              <a:t>STD-010-CPP</a:t>
            </a:r>
            <a:endParaRPr sz="1600"/>
          </a:p>
          <a:p>
            <a:pPr indent="0" lvl="0" marL="914400" rtl="0" algn="l">
              <a:lnSpc>
                <a:spcPct val="70000"/>
              </a:lnSpc>
              <a:spcBef>
                <a:spcPts val="0"/>
              </a:spcBef>
              <a:spcAft>
                <a:spcPts val="0"/>
              </a:spcAft>
              <a:buSzPts val="935"/>
              <a:buNone/>
            </a:pPr>
            <a:r>
              <a:t/>
            </a:r>
            <a:endParaRPr sz="1770"/>
          </a:p>
          <a:p>
            <a:pPr indent="-179705" lvl="0" marL="228600" rtl="0" algn="l">
              <a:lnSpc>
                <a:spcPct val="70000"/>
              </a:lnSpc>
              <a:spcBef>
                <a:spcPts val="0"/>
              </a:spcBef>
              <a:spcAft>
                <a:spcPts val="0"/>
              </a:spcAft>
              <a:buSzPts val="1430"/>
              <a:buChar char="•"/>
            </a:pPr>
            <a:r>
              <a:rPr lang="en-US" sz="1770"/>
              <a:t>Default Deny</a:t>
            </a:r>
            <a:endParaRPr sz="1770"/>
          </a:p>
          <a:p>
            <a:pPr indent="-319405" lvl="1" marL="914400" rtl="0" algn="l">
              <a:lnSpc>
                <a:spcPct val="70000"/>
              </a:lnSpc>
              <a:spcBef>
                <a:spcPts val="0"/>
              </a:spcBef>
              <a:spcAft>
                <a:spcPts val="0"/>
              </a:spcAft>
              <a:buSzPts val="1430"/>
              <a:buChar char="•"/>
            </a:pPr>
            <a:r>
              <a:rPr lang="en-US" sz="1600"/>
              <a:t>STD-004-CPP</a:t>
            </a:r>
            <a:endParaRPr sz="1600"/>
          </a:p>
        </p:txBody>
      </p:sp>
      <p:pic>
        <p:nvPicPr>
          <p:cNvPr descr="Green Pace logo" id="169" name="Google Shape;169;p5"/>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
        <p:nvSpPr>
          <p:cNvPr id="170" name="Google Shape;170;p5"/>
          <p:cNvSpPr txBox="1"/>
          <p:nvPr>
            <p:ph idx="1" type="body"/>
          </p:nvPr>
        </p:nvSpPr>
        <p:spPr>
          <a:xfrm>
            <a:off x="6560475" y="2194550"/>
            <a:ext cx="5410200" cy="4024200"/>
          </a:xfrm>
          <a:prstGeom prst="rect">
            <a:avLst/>
          </a:prstGeom>
          <a:noFill/>
          <a:ln>
            <a:noFill/>
          </a:ln>
        </p:spPr>
        <p:txBody>
          <a:bodyPr anchorCtr="0" anchor="t" bIns="45700" lIns="91425" spcFirstLastPara="1" rIns="91425" wrap="square" tIns="45700">
            <a:normAutofit/>
          </a:bodyPr>
          <a:lstStyle/>
          <a:p>
            <a:pPr indent="-211772" lvl="0" marL="228600" rtl="0" algn="l">
              <a:lnSpc>
                <a:spcPct val="70000"/>
              </a:lnSpc>
              <a:spcBef>
                <a:spcPts val="0"/>
              </a:spcBef>
              <a:spcAft>
                <a:spcPts val="0"/>
              </a:spcAft>
              <a:buClr>
                <a:schemeClr val="lt1"/>
              </a:buClr>
              <a:buSzPts val="1935"/>
              <a:buChar char="•"/>
            </a:pPr>
            <a:r>
              <a:rPr lang="en-US" sz="1935"/>
              <a:t>Principle of Least Privilege</a:t>
            </a:r>
            <a:endParaRPr sz="1935"/>
          </a:p>
          <a:p>
            <a:pPr indent="-327977" lvl="1" marL="914400" rtl="0" algn="l">
              <a:lnSpc>
                <a:spcPct val="70000"/>
              </a:lnSpc>
              <a:spcBef>
                <a:spcPts val="0"/>
              </a:spcBef>
              <a:spcAft>
                <a:spcPts val="0"/>
              </a:spcAft>
              <a:buSzPts val="1565"/>
              <a:buChar char="•"/>
            </a:pPr>
            <a:r>
              <a:rPr lang="en-US" sz="1750"/>
              <a:t>STD-004-CPP</a:t>
            </a:r>
            <a:endParaRPr sz="1750"/>
          </a:p>
          <a:p>
            <a:pPr indent="-327977" lvl="1" marL="914400" rtl="0" algn="l">
              <a:lnSpc>
                <a:spcPct val="70000"/>
              </a:lnSpc>
              <a:spcBef>
                <a:spcPts val="0"/>
              </a:spcBef>
              <a:spcAft>
                <a:spcPts val="0"/>
              </a:spcAft>
              <a:buSzPts val="1565"/>
              <a:buChar char="•"/>
            </a:pPr>
            <a:r>
              <a:rPr lang="en-US" sz="1750"/>
              <a:t>STD-008-CPP</a:t>
            </a:r>
            <a:endParaRPr sz="1750"/>
          </a:p>
          <a:p>
            <a:pPr indent="0" lvl="0" marL="914400" rtl="0" algn="l">
              <a:lnSpc>
                <a:spcPct val="70000"/>
              </a:lnSpc>
              <a:spcBef>
                <a:spcPts val="0"/>
              </a:spcBef>
              <a:spcAft>
                <a:spcPts val="0"/>
              </a:spcAft>
              <a:buSzPts val="1018"/>
              <a:buNone/>
            </a:pPr>
            <a:r>
              <a:t/>
            </a:r>
            <a:endParaRPr sz="1935"/>
          </a:p>
          <a:p>
            <a:pPr indent="-188277" lvl="0" marL="228600" rtl="0" algn="l">
              <a:lnSpc>
                <a:spcPct val="70000"/>
              </a:lnSpc>
              <a:spcBef>
                <a:spcPts val="0"/>
              </a:spcBef>
              <a:spcAft>
                <a:spcPts val="0"/>
              </a:spcAft>
              <a:buSzPts val="1565"/>
              <a:buChar char="•"/>
            </a:pPr>
            <a:r>
              <a:rPr lang="en-US" sz="1935"/>
              <a:t>Sanitize</a:t>
            </a:r>
            <a:r>
              <a:rPr lang="en-US" sz="1935"/>
              <a:t> Data Sent to Other Systems</a:t>
            </a:r>
            <a:endParaRPr sz="1935"/>
          </a:p>
          <a:p>
            <a:pPr indent="-327977" lvl="1" marL="914400" rtl="0" algn="l">
              <a:lnSpc>
                <a:spcPct val="70000"/>
              </a:lnSpc>
              <a:spcBef>
                <a:spcPts val="0"/>
              </a:spcBef>
              <a:spcAft>
                <a:spcPts val="0"/>
              </a:spcAft>
              <a:buSzPts val="1565"/>
              <a:buChar char="•"/>
            </a:pPr>
            <a:r>
              <a:rPr lang="en-US" sz="1750"/>
              <a:t>STD-004-CPP</a:t>
            </a:r>
            <a:endParaRPr sz="1750"/>
          </a:p>
          <a:p>
            <a:pPr indent="-327977" lvl="1" marL="914400" rtl="0" algn="l">
              <a:lnSpc>
                <a:spcPct val="70000"/>
              </a:lnSpc>
              <a:spcBef>
                <a:spcPts val="0"/>
              </a:spcBef>
              <a:spcAft>
                <a:spcPts val="0"/>
              </a:spcAft>
              <a:buSzPts val="1565"/>
              <a:buChar char="•"/>
            </a:pPr>
            <a:r>
              <a:rPr lang="en-US" sz="1750"/>
              <a:t>STD-008-CPP</a:t>
            </a:r>
            <a:endParaRPr sz="1750"/>
          </a:p>
          <a:p>
            <a:pPr indent="0" lvl="0" marL="914400" rtl="0" algn="l">
              <a:lnSpc>
                <a:spcPct val="70000"/>
              </a:lnSpc>
              <a:spcBef>
                <a:spcPts val="0"/>
              </a:spcBef>
              <a:spcAft>
                <a:spcPts val="0"/>
              </a:spcAft>
              <a:buSzPts val="1018"/>
              <a:buNone/>
            </a:pPr>
            <a:r>
              <a:t/>
            </a:r>
            <a:endParaRPr sz="1935"/>
          </a:p>
          <a:p>
            <a:pPr indent="-188277" lvl="0" marL="228600" rtl="0" algn="l">
              <a:lnSpc>
                <a:spcPct val="70000"/>
              </a:lnSpc>
              <a:spcBef>
                <a:spcPts val="0"/>
              </a:spcBef>
              <a:spcAft>
                <a:spcPts val="0"/>
              </a:spcAft>
              <a:buSzPts val="1565"/>
              <a:buChar char="•"/>
            </a:pPr>
            <a:r>
              <a:rPr lang="en-US" sz="1935"/>
              <a:t>Defense in Depth</a:t>
            </a:r>
            <a:endParaRPr sz="1935"/>
          </a:p>
          <a:p>
            <a:pPr indent="-327977" lvl="1" marL="914400" rtl="0" algn="l">
              <a:lnSpc>
                <a:spcPct val="70000"/>
              </a:lnSpc>
              <a:spcBef>
                <a:spcPts val="0"/>
              </a:spcBef>
              <a:spcAft>
                <a:spcPts val="0"/>
              </a:spcAft>
              <a:buSzPts val="1565"/>
              <a:buChar char="•"/>
            </a:pPr>
            <a:r>
              <a:rPr lang="en-US" sz="1750"/>
              <a:t>STD-004-CPP</a:t>
            </a:r>
            <a:endParaRPr sz="1750"/>
          </a:p>
          <a:p>
            <a:pPr indent="0" lvl="0" marL="914400" rtl="0" algn="l">
              <a:lnSpc>
                <a:spcPct val="70000"/>
              </a:lnSpc>
              <a:spcBef>
                <a:spcPts val="0"/>
              </a:spcBef>
              <a:spcAft>
                <a:spcPts val="0"/>
              </a:spcAft>
              <a:buSzPts val="1018"/>
              <a:buNone/>
            </a:pPr>
            <a:r>
              <a:t/>
            </a:r>
            <a:endParaRPr sz="1935"/>
          </a:p>
          <a:p>
            <a:pPr indent="-188277" lvl="0" marL="228600" rtl="0" algn="l">
              <a:lnSpc>
                <a:spcPct val="70000"/>
              </a:lnSpc>
              <a:spcBef>
                <a:spcPts val="0"/>
              </a:spcBef>
              <a:spcAft>
                <a:spcPts val="0"/>
              </a:spcAft>
              <a:buSzPts val="1565"/>
              <a:buChar char="•"/>
            </a:pPr>
            <a:r>
              <a:rPr lang="en-US" sz="1935"/>
              <a:t>Effective Quality </a:t>
            </a:r>
            <a:r>
              <a:rPr lang="en-US" sz="1935"/>
              <a:t>Assurance </a:t>
            </a:r>
            <a:r>
              <a:rPr lang="en-US" sz="1935"/>
              <a:t>Techniques</a:t>
            </a:r>
            <a:endParaRPr sz="1935"/>
          </a:p>
          <a:p>
            <a:pPr indent="-327977" lvl="1" marL="914400" rtl="0" algn="l">
              <a:lnSpc>
                <a:spcPct val="70000"/>
              </a:lnSpc>
              <a:spcBef>
                <a:spcPts val="0"/>
              </a:spcBef>
              <a:spcAft>
                <a:spcPts val="0"/>
              </a:spcAft>
              <a:buSzPts val="1565"/>
              <a:buChar char="•"/>
            </a:pPr>
            <a:r>
              <a:rPr lang="en-US" sz="1750"/>
              <a:t>STD-002-CPP</a:t>
            </a:r>
            <a:endParaRPr sz="1750"/>
          </a:p>
          <a:p>
            <a:pPr indent="-327977" lvl="1" marL="914400" rtl="0" algn="l">
              <a:lnSpc>
                <a:spcPct val="70000"/>
              </a:lnSpc>
              <a:spcBef>
                <a:spcPts val="0"/>
              </a:spcBef>
              <a:spcAft>
                <a:spcPts val="0"/>
              </a:spcAft>
              <a:buSzPts val="1565"/>
              <a:buChar char="•"/>
            </a:pPr>
            <a:r>
              <a:rPr lang="en-US" sz="1750"/>
              <a:t>STD-006-CPP</a:t>
            </a:r>
            <a:endParaRPr sz="1750"/>
          </a:p>
          <a:p>
            <a:pPr indent="0" lvl="0" marL="914400" rtl="0" algn="l">
              <a:lnSpc>
                <a:spcPct val="70000"/>
              </a:lnSpc>
              <a:spcBef>
                <a:spcPts val="0"/>
              </a:spcBef>
              <a:spcAft>
                <a:spcPts val="0"/>
              </a:spcAft>
              <a:buSzPts val="1018"/>
              <a:buNone/>
            </a:pPr>
            <a:r>
              <a:t/>
            </a:r>
            <a:endParaRPr sz="1935"/>
          </a:p>
          <a:p>
            <a:pPr indent="-188277" lvl="0" marL="228600" rtl="0" algn="l">
              <a:lnSpc>
                <a:spcPct val="70000"/>
              </a:lnSpc>
              <a:spcBef>
                <a:spcPts val="0"/>
              </a:spcBef>
              <a:spcAft>
                <a:spcPts val="0"/>
              </a:spcAft>
              <a:buSzPts val="1565"/>
              <a:buChar char="•"/>
            </a:pPr>
            <a:r>
              <a:rPr lang="en-US" sz="1935"/>
              <a:t>Adopt a Secure Coding Standard</a:t>
            </a:r>
            <a:endParaRPr sz="1935"/>
          </a:p>
          <a:p>
            <a:pPr indent="-327977" lvl="1" marL="914400" rtl="0" algn="l">
              <a:lnSpc>
                <a:spcPct val="70000"/>
              </a:lnSpc>
              <a:spcBef>
                <a:spcPts val="0"/>
              </a:spcBef>
              <a:spcAft>
                <a:spcPts val="0"/>
              </a:spcAft>
              <a:buSzPts val="1565"/>
              <a:buChar char="•"/>
            </a:pPr>
            <a:r>
              <a:rPr lang="en-US" sz="1750"/>
              <a:t>STD-003-CPP</a:t>
            </a:r>
            <a:endParaRPr sz="1750"/>
          </a:p>
          <a:p>
            <a:pPr indent="-327977" lvl="1" marL="914400" rtl="0" algn="l">
              <a:lnSpc>
                <a:spcPct val="70000"/>
              </a:lnSpc>
              <a:spcBef>
                <a:spcPts val="0"/>
              </a:spcBef>
              <a:spcAft>
                <a:spcPts val="0"/>
              </a:spcAft>
              <a:buSzPts val="1565"/>
              <a:buChar char="•"/>
            </a:pPr>
            <a:r>
              <a:rPr lang="en-US" sz="1750"/>
              <a:t>STD-004-CPP</a:t>
            </a:r>
            <a:endParaRPr sz="1750"/>
          </a:p>
          <a:p>
            <a:pPr indent="-327977" lvl="1" marL="914400" rtl="0" algn="l">
              <a:lnSpc>
                <a:spcPct val="70000"/>
              </a:lnSpc>
              <a:spcBef>
                <a:spcPts val="0"/>
              </a:spcBef>
              <a:spcAft>
                <a:spcPts val="0"/>
              </a:spcAft>
              <a:buSzPts val="1565"/>
              <a:buChar char="•"/>
            </a:pPr>
            <a:r>
              <a:rPr lang="en-US" sz="1750"/>
              <a:t>STD-007-CPP</a:t>
            </a:r>
            <a:endParaRPr sz="175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6"/>
          <p:cNvSpPr txBox="1"/>
          <p:nvPr>
            <p:ph type="title"/>
          </p:nvPr>
        </p:nvSpPr>
        <p:spPr>
          <a:xfrm>
            <a:off x="2895600" y="764373"/>
            <a:ext cx="86106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CODING STANDARDS</a:t>
            </a:r>
            <a:endParaRPr/>
          </a:p>
        </p:txBody>
      </p:sp>
      <p:sp>
        <p:nvSpPr>
          <p:cNvPr id="176" name="Google Shape;176;p6"/>
          <p:cNvSpPr txBox="1"/>
          <p:nvPr>
            <p:ph idx="1" type="body"/>
          </p:nvPr>
        </p:nvSpPr>
        <p:spPr>
          <a:xfrm>
            <a:off x="726300" y="1800275"/>
            <a:ext cx="10739400" cy="4968600"/>
          </a:xfrm>
          <a:prstGeom prst="rect">
            <a:avLst/>
          </a:prstGeom>
          <a:noFill/>
          <a:ln>
            <a:noFill/>
          </a:ln>
        </p:spPr>
        <p:txBody>
          <a:bodyPr anchorCtr="0" anchor="t" bIns="45700" lIns="91425" spcFirstLastPara="1" rIns="91425" wrap="square" tIns="45700">
            <a:normAutofit/>
          </a:bodyPr>
          <a:lstStyle/>
          <a:p>
            <a:pPr indent="-319405" lvl="0" marL="457200" rtl="0" algn="l">
              <a:lnSpc>
                <a:spcPct val="70000"/>
              </a:lnSpc>
              <a:spcBef>
                <a:spcPts val="0"/>
              </a:spcBef>
              <a:spcAft>
                <a:spcPts val="0"/>
              </a:spcAft>
              <a:buSzPts val="1430"/>
              <a:buChar char="•"/>
            </a:pPr>
            <a:r>
              <a:rPr b="1" lang="en-US" sz="1770"/>
              <a:t>STD-003-CPP: String Correctness</a:t>
            </a:r>
            <a:r>
              <a:rPr lang="en-US" sz="1770"/>
              <a:t> - Do not </a:t>
            </a:r>
            <a:r>
              <a:rPr lang="en-US" sz="1770"/>
              <a:t>attempt</a:t>
            </a:r>
            <a:r>
              <a:rPr lang="en-US" sz="1770"/>
              <a:t> to create a std::string from a null pointer</a:t>
            </a:r>
            <a:endParaRPr sz="1770"/>
          </a:p>
          <a:p>
            <a:pPr indent="0" lvl="0" marL="914400" rtl="0" algn="l">
              <a:lnSpc>
                <a:spcPct val="70000"/>
              </a:lnSpc>
              <a:spcBef>
                <a:spcPts val="0"/>
              </a:spcBef>
              <a:spcAft>
                <a:spcPts val="0"/>
              </a:spcAft>
              <a:buSzPts val="935"/>
              <a:buNone/>
            </a:pPr>
            <a:r>
              <a:t/>
            </a:r>
            <a:endParaRPr sz="1770"/>
          </a:p>
          <a:p>
            <a:pPr indent="-319405" lvl="0" marL="457200" rtl="0" algn="l">
              <a:lnSpc>
                <a:spcPct val="70000"/>
              </a:lnSpc>
              <a:spcBef>
                <a:spcPts val="0"/>
              </a:spcBef>
              <a:spcAft>
                <a:spcPts val="0"/>
              </a:spcAft>
              <a:buSzPts val="1430"/>
              <a:buChar char="•"/>
            </a:pPr>
            <a:r>
              <a:rPr b="1" lang="en-US" sz="1770"/>
              <a:t>STD-005-CPP: </a:t>
            </a:r>
            <a:r>
              <a:rPr b="1" lang="en-US" sz="1770"/>
              <a:t>Memory</a:t>
            </a:r>
            <a:r>
              <a:rPr b="1" lang="en-US" sz="1770"/>
              <a:t> Protection</a:t>
            </a:r>
            <a:r>
              <a:rPr lang="en-US" sz="1770"/>
              <a:t> - Do not access freed </a:t>
            </a:r>
            <a:r>
              <a:rPr lang="en-US" sz="1770"/>
              <a:t>memory</a:t>
            </a:r>
            <a:endParaRPr sz="1770"/>
          </a:p>
          <a:p>
            <a:pPr indent="0" lvl="0" marL="914400" rtl="0" algn="l">
              <a:lnSpc>
                <a:spcPct val="70000"/>
              </a:lnSpc>
              <a:spcBef>
                <a:spcPts val="0"/>
              </a:spcBef>
              <a:spcAft>
                <a:spcPts val="0"/>
              </a:spcAft>
              <a:buSzPts val="935"/>
              <a:buNone/>
            </a:pPr>
            <a:r>
              <a:t/>
            </a:r>
            <a:endParaRPr sz="1770"/>
          </a:p>
          <a:p>
            <a:pPr indent="-319405" lvl="0" marL="457200" rtl="0" algn="l">
              <a:lnSpc>
                <a:spcPct val="70000"/>
              </a:lnSpc>
              <a:spcBef>
                <a:spcPts val="0"/>
              </a:spcBef>
              <a:spcAft>
                <a:spcPts val="0"/>
              </a:spcAft>
              <a:buSzPts val="1430"/>
              <a:buChar char="•"/>
            </a:pPr>
            <a:r>
              <a:rPr b="1" lang="en-US" sz="1770"/>
              <a:t>STD-010-CPP: Containers</a:t>
            </a:r>
            <a:r>
              <a:rPr lang="en-US" sz="1770"/>
              <a:t> - Do not use an additive operator on an iterator if the result would overflow</a:t>
            </a:r>
            <a:endParaRPr sz="1770"/>
          </a:p>
          <a:p>
            <a:pPr indent="0" lvl="0" marL="0" rtl="0" algn="l">
              <a:lnSpc>
                <a:spcPct val="70000"/>
              </a:lnSpc>
              <a:spcBef>
                <a:spcPts val="0"/>
              </a:spcBef>
              <a:spcAft>
                <a:spcPts val="0"/>
              </a:spcAft>
              <a:buSzPts val="935"/>
              <a:buNone/>
            </a:pPr>
            <a:r>
              <a:t/>
            </a:r>
            <a:endParaRPr sz="1770"/>
          </a:p>
          <a:p>
            <a:pPr indent="-319405" lvl="0" marL="457200" rtl="0" algn="l">
              <a:lnSpc>
                <a:spcPct val="70000"/>
              </a:lnSpc>
              <a:spcBef>
                <a:spcPts val="0"/>
              </a:spcBef>
              <a:spcAft>
                <a:spcPts val="0"/>
              </a:spcAft>
              <a:buSzPts val="1430"/>
              <a:buChar char="•"/>
            </a:pPr>
            <a:r>
              <a:rPr b="1" lang="en-US" sz="1770"/>
              <a:t>STD-004-CPP: SQL Injection</a:t>
            </a:r>
            <a:r>
              <a:rPr lang="en-US" sz="1770"/>
              <a:t> - Verify </a:t>
            </a:r>
            <a:r>
              <a:rPr lang="en-US" sz="1770"/>
              <a:t>input data </a:t>
            </a:r>
            <a:endParaRPr sz="1770"/>
          </a:p>
          <a:p>
            <a:pPr indent="0" lvl="0" marL="0" rtl="0" algn="l">
              <a:lnSpc>
                <a:spcPct val="70000"/>
              </a:lnSpc>
              <a:spcBef>
                <a:spcPts val="0"/>
              </a:spcBef>
              <a:spcAft>
                <a:spcPts val="0"/>
              </a:spcAft>
              <a:buSzPts val="935"/>
              <a:buNone/>
            </a:pPr>
            <a:r>
              <a:t/>
            </a:r>
            <a:endParaRPr sz="1770"/>
          </a:p>
          <a:p>
            <a:pPr indent="-319405" lvl="0" marL="457200" rtl="0" algn="l">
              <a:lnSpc>
                <a:spcPct val="70000"/>
              </a:lnSpc>
              <a:spcBef>
                <a:spcPts val="0"/>
              </a:spcBef>
              <a:spcAft>
                <a:spcPts val="0"/>
              </a:spcAft>
              <a:buSzPts val="1430"/>
              <a:buChar char="•"/>
            </a:pPr>
            <a:r>
              <a:rPr b="1" lang="en-US" sz="1770"/>
              <a:t>STD-002-CPP: Data Value</a:t>
            </a:r>
            <a:r>
              <a:rPr lang="en-US" sz="1770"/>
              <a:t> - Ensure that integer </a:t>
            </a:r>
            <a:r>
              <a:rPr lang="en-US" sz="1770"/>
              <a:t>conversions</a:t>
            </a:r>
            <a:r>
              <a:rPr lang="en-US" sz="1770"/>
              <a:t> do not result in lost or misinterpreted data</a:t>
            </a:r>
            <a:endParaRPr sz="1770"/>
          </a:p>
          <a:p>
            <a:pPr indent="0" lvl="0" marL="0" rtl="0" algn="l">
              <a:lnSpc>
                <a:spcPct val="70000"/>
              </a:lnSpc>
              <a:spcBef>
                <a:spcPts val="0"/>
              </a:spcBef>
              <a:spcAft>
                <a:spcPts val="0"/>
              </a:spcAft>
              <a:buSzPts val="935"/>
              <a:buNone/>
            </a:pPr>
            <a:r>
              <a:t/>
            </a:r>
            <a:endParaRPr sz="1770"/>
          </a:p>
          <a:p>
            <a:pPr indent="-319405" lvl="0" marL="457200" rtl="0" algn="l">
              <a:lnSpc>
                <a:spcPct val="70000"/>
              </a:lnSpc>
              <a:spcBef>
                <a:spcPts val="0"/>
              </a:spcBef>
              <a:spcAft>
                <a:spcPts val="0"/>
              </a:spcAft>
              <a:buSzPts val="1430"/>
              <a:buChar char="•"/>
            </a:pPr>
            <a:r>
              <a:rPr b="1" lang="en-US" sz="1770"/>
              <a:t>STD-007-CPP: Exceptions</a:t>
            </a:r>
            <a:r>
              <a:rPr lang="en-US" sz="1770"/>
              <a:t> - Handle all exceptions</a:t>
            </a:r>
            <a:endParaRPr sz="1770"/>
          </a:p>
          <a:p>
            <a:pPr indent="0" lvl="0" marL="0" rtl="0" algn="l">
              <a:lnSpc>
                <a:spcPct val="70000"/>
              </a:lnSpc>
              <a:spcBef>
                <a:spcPts val="0"/>
              </a:spcBef>
              <a:spcAft>
                <a:spcPts val="0"/>
              </a:spcAft>
              <a:buSzPts val="935"/>
              <a:buNone/>
            </a:pPr>
            <a:r>
              <a:t/>
            </a:r>
            <a:endParaRPr sz="1770"/>
          </a:p>
          <a:p>
            <a:pPr indent="-319405" lvl="0" marL="457200" rtl="0" algn="l">
              <a:lnSpc>
                <a:spcPct val="70000"/>
              </a:lnSpc>
              <a:spcBef>
                <a:spcPts val="0"/>
              </a:spcBef>
              <a:spcAft>
                <a:spcPts val="0"/>
              </a:spcAft>
              <a:buSzPts val="1430"/>
              <a:buChar char="•"/>
            </a:pPr>
            <a:r>
              <a:rPr b="1" lang="en-US" sz="1770"/>
              <a:t>STD-009-CPP: Error Handling</a:t>
            </a:r>
            <a:r>
              <a:rPr lang="en-US" sz="1770"/>
              <a:t> - Do not abruptly terminate program</a:t>
            </a:r>
            <a:endParaRPr sz="1770"/>
          </a:p>
          <a:p>
            <a:pPr indent="0" lvl="0" marL="0" rtl="0" algn="l">
              <a:lnSpc>
                <a:spcPct val="70000"/>
              </a:lnSpc>
              <a:spcBef>
                <a:spcPts val="0"/>
              </a:spcBef>
              <a:spcAft>
                <a:spcPts val="0"/>
              </a:spcAft>
              <a:buSzPts val="935"/>
              <a:buNone/>
            </a:pPr>
            <a:r>
              <a:t/>
            </a:r>
            <a:endParaRPr sz="1770"/>
          </a:p>
          <a:p>
            <a:pPr indent="-319405" lvl="0" marL="457200" rtl="0" algn="l">
              <a:lnSpc>
                <a:spcPct val="70000"/>
              </a:lnSpc>
              <a:spcBef>
                <a:spcPts val="0"/>
              </a:spcBef>
              <a:spcAft>
                <a:spcPts val="0"/>
              </a:spcAft>
              <a:buSzPts val="1430"/>
              <a:buChar char="•"/>
            </a:pPr>
            <a:r>
              <a:rPr b="1" lang="en-US" sz="1770"/>
              <a:t>STD-001-CPP: Data Type</a:t>
            </a:r>
            <a:r>
              <a:rPr lang="en-US" sz="1770"/>
              <a:t> - Never qualify a reference type with const or volatile</a:t>
            </a:r>
            <a:endParaRPr sz="1770"/>
          </a:p>
          <a:p>
            <a:pPr indent="0" lvl="0" marL="0" rtl="0" algn="l">
              <a:lnSpc>
                <a:spcPct val="70000"/>
              </a:lnSpc>
              <a:spcBef>
                <a:spcPts val="0"/>
              </a:spcBef>
              <a:spcAft>
                <a:spcPts val="0"/>
              </a:spcAft>
              <a:buSzPts val="935"/>
              <a:buNone/>
            </a:pPr>
            <a:r>
              <a:t/>
            </a:r>
            <a:endParaRPr sz="1770"/>
          </a:p>
          <a:p>
            <a:pPr indent="-319405" lvl="0" marL="457200" rtl="0" algn="l">
              <a:lnSpc>
                <a:spcPct val="70000"/>
              </a:lnSpc>
              <a:spcBef>
                <a:spcPts val="0"/>
              </a:spcBef>
              <a:spcAft>
                <a:spcPts val="0"/>
              </a:spcAft>
              <a:buSzPts val="1430"/>
              <a:buChar char="•"/>
            </a:pPr>
            <a:r>
              <a:rPr b="1" lang="en-US" sz="1770"/>
              <a:t>STD-006-CPP: Assertions</a:t>
            </a:r>
            <a:r>
              <a:rPr lang="en-US" sz="1770"/>
              <a:t> - Incorporate </a:t>
            </a:r>
            <a:r>
              <a:rPr lang="en-US" sz="1770"/>
              <a:t>diagnostic</a:t>
            </a:r>
            <a:r>
              <a:rPr lang="en-US" sz="1770"/>
              <a:t> tests using assertions</a:t>
            </a:r>
            <a:endParaRPr sz="1770"/>
          </a:p>
          <a:p>
            <a:pPr indent="0" lvl="0" marL="0" rtl="0" algn="l">
              <a:lnSpc>
                <a:spcPct val="70000"/>
              </a:lnSpc>
              <a:spcBef>
                <a:spcPts val="0"/>
              </a:spcBef>
              <a:spcAft>
                <a:spcPts val="0"/>
              </a:spcAft>
              <a:buSzPts val="935"/>
              <a:buNone/>
            </a:pPr>
            <a:r>
              <a:t/>
            </a:r>
            <a:endParaRPr sz="1770"/>
          </a:p>
          <a:p>
            <a:pPr indent="-319405" lvl="0" marL="457200" rtl="0" algn="l">
              <a:lnSpc>
                <a:spcPct val="70000"/>
              </a:lnSpc>
              <a:spcBef>
                <a:spcPts val="0"/>
              </a:spcBef>
              <a:spcAft>
                <a:spcPts val="0"/>
              </a:spcAft>
              <a:buSzPts val="1430"/>
              <a:buChar char="•"/>
            </a:pPr>
            <a:r>
              <a:rPr b="1" lang="en-US" sz="1770"/>
              <a:t>STD-008-CPP: Bit-fields</a:t>
            </a:r>
            <a:r>
              <a:rPr lang="en-US" sz="1770"/>
              <a:t> - Avoid information leakage when passing a class object across a trust </a:t>
            </a:r>
            <a:r>
              <a:rPr lang="en-US" sz="1770"/>
              <a:t>boundary</a:t>
            </a:r>
            <a:endParaRPr sz="1770"/>
          </a:p>
          <a:p>
            <a:pPr indent="0" lvl="0" marL="0" rtl="0" algn="l">
              <a:lnSpc>
                <a:spcPct val="70000"/>
              </a:lnSpc>
              <a:spcBef>
                <a:spcPts val="0"/>
              </a:spcBef>
              <a:spcAft>
                <a:spcPts val="0"/>
              </a:spcAft>
              <a:buNone/>
            </a:pPr>
            <a:r>
              <a:t/>
            </a:r>
            <a:endParaRPr sz="1770"/>
          </a:p>
          <a:p>
            <a:pPr indent="0" lvl="0" marL="0" rtl="0" algn="l">
              <a:lnSpc>
                <a:spcPct val="70000"/>
              </a:lnSpc>
              <a:spcBef>
                <a:spcPts val="0"/>
              </a:spcBef>
              <a:spcAft>
                <a:spcPts val="0"/>
              </a:spcAft>
              <a:buNone/>
            </a:pPr>
            <a:r>
              <a:t/>
            </a:r>
            <a:endParaRPr sz="1770"/>
          </a:p>
          <a:p>
            <a:pPr indent="0" lvl="0" marL="0" rtl="0" algn="l">
              <a:lnSpc>
                <a:spcPct val="70000"/>
              </a:lnSpc>
              <a:spcBef>
                <a:spcPts val="0"/>
              </a:spcBef>
              <a:spcAft>
                <a:spcPts val="0"/>
              </a:spcAft>
              <a:buNone/>
            </a:pPr>
            <a:r>
              <a:rPr lang="en-US" sz="1370"/>
              <a:t>*Ranked by severity and likelihood</a:t>
            </a:r>
            <a:endParaRPr sz="1370"/>
          </a:p>
        </p:txBody>
      </p:sp>
      <p:pic>
        <p:nvPicPr>
          <p:cNvPr descr="Green Pace logo" id="177" name="Google Shape;177;p6"/>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ENCRYPTION POLICIES</a:t>
            </a:r>
            <a:endParaRPr/>
          </a:p>
        </p:txBody>
      </p:sp>
      <p:sp>
        <p:nvSpPr>
          <p:cNvPr id="183" name="Google Shape;183;p7"/>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Autofit/>
          </a:bodyPr>
          <a:lstStyle/>
          <a:p>
            <a:pPr indent="-247650" lvl="0" marL="228600" rtl="0" algn="l">
              <a:lnSpc>
                <a:spcPct val="90000"/>
              </a:lnSpc>
              <a:spcBef>
                <a:spcPts val="0"/>
              </a:spcBef>
              <a:spcAft>
                <a:spcPts val="0"/>
              </a:spcAft>
              <a:buClr>
                <a:schemeClr val="lt1"/>
              </a:buClr>
              <a:buSzPts val="2300"/>
              <a:buChar char="•"/>
            </a:pPr>
            <a:r>
              <a:rPr b="1" lang="en-US" sz="2300"/>
              <a:t>Encryption at rest </a:t>
            </a:r>
            <a:r>
              <a:rPr lang="en-US" sz="2300"/>
              <a:t>- Ensures that long term data is stored in a secure location and encrypted</a:t>
            </a:r>
            <a:endParaRPr sz="2300"/>
          </a:p>
          <a:p>
            <a:pPr indent="0" lvl="0" marL="0" rtl="0" algn="l">
              <a:lnSpc>
                <a:spcPct val="90000"/>
              </a:lnSpc>
              <a:spcBef>
                <a:spcPts val="0"/>
              </a:spcBef>
              <a:spcAft>
                <a:spcPts val="0"/>
              </a:spcAft>
              <a:buNone/>
            </a:pPr>
            <a:r>
              <a:t/>
            </a:r>
            <a:endParaRPr sz="2300"/>
          </a:p>
          <a:p>
            <a:pPr indent="-247650" lvl="0" marL="228600" rtl="0" algn="l">
              <a:lnSpc>
                <a:spcPct val="90000"/>
              </a:lnSpc>
              <a:spcBef>
                <a:spcPts val="0"/>
              </a:spcBef>
              <a:spcAft>
                <a:spcPts val="0"/>
              </a:spcAft>
              <a:buSzPts val="2300"/>
              <a:buChar char="•"/>
            </a:pPr>
            <a:r>
              <a:rPr b="1" lang="en-US" sz="2300"/>
              <a:t>Encryption at flight</a:t>
            </a:r>
            <a:r>
              <a:rPr lang="en-US" sz="2300"/>
              <a:t> - Ensures that the proper encryption techniques are used to keep data safe while moving from one location to another</a:t>
            </a:r>
            <a:endParaRPr sz="2300"/>
          </a:p>
          <a:p>
            <a:pPr indent="0" lvl="0" marL="0" rtl="0" algn="l">
              <a:lnSpc>
                <a:spcPct val="90000"/>
              </a:lnSpc>
              <a:spcBef>
                <a:spcPts val="0"/>
              </a:spcBef>
              <a:spcAft>
                <a:spcPts val="0"/>
              </a:spcAft>
              <a:buNone/>
            </a:pPr>
            <a:r>
              <a:t/>
            </a:r>
            <a:endParaRPr sz="2300"/>
          </a:p>
          <a:p>
            <a:pPr indent="-247650" lvl="0" marL="228600" rtl="0" algn="l">
              <a:lnSpc>
                <a:spcPct val="90000"/>
              </a:lnSpc>
              <a:spcBef>
                <a:spcPts val="0"/>
              </a:spcBef>
              <a:spcAft>
                <a:spcPts val="0"/>
              </a:spcAft>
              <a:buSzPts val="2300"/>
              <a:buChar char="•"/>
            </a:pPr>
            <a:r>
              <a:rPr b="1" lang="en-US" sz="2300"/>
              <a:t>Encryption in use</a:t>
            </a:r>
            <a:r>
              <a:rPr lang="en-US" sz="2300"/>
              <a:t> - Ensures that sensitive data is encrypted as well as the connection that is being to access data is secure.</a:t>
            </a:r>
            <a:endParaRPr sz="2300"/>
          </a:p>
          <a:p>
            <a:pPr indent="0" lvl="0" marL="0" rtl="0" algn="l">
              <a:lnSpc>
                <a:spcPct val="90000"/>
              </a:lnSpc>
              <a:spcBef>
                <a:spcPts val="0"/>
              </a:spcBef>
              <a:spcAft>
                <a:spcPts val="0"/>
              </a:spcAft>
              <a:buNone/>
            </a:pPr>
            <a:r>
              <a:t/>
            </a:r>
            <a:endParaRPr sz="2300"/>
          </a:p>
          <a:p>
            <a:pPr indent="0" lvl="0" marL="0" rtl="0" algn="l">
              <a:lnSpc>
                <a:spcPct val="90000"/>
              </a:lnSpc>
              <a:spcBef>
                <a:spcPts val="0"/>
              </a:spcBef>
              <a:spcAft>
                <a:spcPts val="0"/>
              </a:spcAft>
              <a:buNone/>
            </a:pPr>
            <a:r>
              <a:t/>
            </a:r>
            <a:endParaRPr sz="2300"/>
          </a:p>
          <a:p>
            <a:pPr indent="0" lvl="0" marL="0" rtl="0" algn="l">
              <a:lnSpc>
                <a:spcPct val="90000"/>
              </a:lnSpc>
              <a:spcBef>
                <a:spcPts val="1000"/>
              </a:spcBef>
              <a:spcAft>
                <a:spcPts val="0"/>
              </a:spcAft>
              <a:buClr>
                <a:schemeClr val="lt1"/>
              </a:buClr>
              <a:buSzPts val="1600"/>
              <a:buNone/>
            </a:pPr>
            <a:r>
              <a:t/>
            </a:r>
            <a:endParaRPr sz="1900"/>
          </a:p>
          <a:p>
            <a:pPr indent="-88900" lvl="0" marL="228600" rtl="0" algn="l">
              <a:lnSpc>
                <a:spcPct val="90000"/>
              </a:lnSpc>
              <a:spcBef>
                <a:spcPts val="1000"/>
              </a:spcBef>
              <a:spcAft>
                <a:spcPts val="0"/>
              </a:spcAft>
              <a:buClr>
                <a:schemeClr val="lt1"/>
              </a:buClr>
              <a:buSzPts val="2200"/>
              <a:buNone/>
            </a:pPr>
            <a:r>
              <a:t/>
            </a:r>
            <a:endParaRPr sz="2500"/>
          </a:p>
        </p:txBody>
      </p:sp>
      <p:pic>
        <p:nvPicPr>
          <p:cNvPr descr="Green Pace logo" id="184" name="Google Shape;184;p7"/>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8"/>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TRIPLE-A POLICIES</a:t>
            </a:r>
            <a:endParaRPr/>
          </a:p>
        </p:txBody>
      </p:sp>
      <p:sp>
        <p:nvSpPr>
          <p:cNvPr id="190" name="Google Shape;190;p8"/>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381000" lvl="0" marL="457200" rtl="0" algn="l">
              <a:lnSpc>
                <a:spcPct val="90000"/>
              </a:lnSpc>
              <a:spcBef>
                <a:spcPts val="0"/>
              </a:spcBef>
              <a:spcAft>
                <a:spcPts val="0"/>
              </a:spcAft>
              <a:buSzPts val="2400"/>
              <a:buChar char="•"/>
            </a:pPr>
            <a:r>
              <a:rPr b="1" lang="en-US" sz="2400"/>
              <a:t>Authentication</a:t>
            </a:r>
            <a:r>
              <a:rPr lang="en-US" sz="2400"/>
              <a:t> - Determining if the user exists</a:t>
            </a:r>
            <a:endParaRPr sz="2400"/>
          </a:p>
          <a:p>
            <a:pPr indent="-381000" lvl="1" marL="914400" rtl="0" algn="l">
              <a:lnSpc>
                <a:spcPct val="90000"/>
              </a:lnSpc>
              <a:spcBef>
                <a:spcPts val="0"/>
              </a:spcBef>
              <a:spcAft>
                <a:spcPts val="0"/>
              </a:spcAft>
              <a:buSzPts val="2400"/>
              <a:buChar char="•"/>
            </a:pPr>
            <a:r>
              <a:rPr lang="en-US" sz="2400"/>
              <a:t>Multi Factor Authentication</a:t>
            </a:r>
            <a:endParaRPr sz="2400"/>
          </a:p>
          <a:p>
            <a:pPr indent="0" lvl="0" marL="0" rtl="0" algn="l">
              <a:lnSpc>
                <a:spcPct val="90000"/>
              </a:lnSpc>
              <a:spcBef>
                <a:spcPts val="0"/>
              </a:spcBef>
              <a:spcAft>
                <a:spcPts val="0"/>
              </a:spcAft>
              <a:buNone/>
            </a:pPr>
            <a:r>
              <a:t/>
            </a:r>
            <a:endParaRPr sz="2400"/>
          </a:p>
          <a:p>
            <a:pPr indent="-381000" lvl="0" marL="457200" rtl="0" algn="l">
              <a:lnSpc>
                <a:spcPct val="90000"/>
              </a:lnSpc>
              <a:spcBef>
                <a:spcPts val="0"/>
              </a:spcBef>
              <a:spcAft>
                <a:spcPts val="0"/>
              </a:spcAft>
              <a:buSzPts val="2400"/>
              <a:buChar char="•"/>
            </a:pPr>
            <a:r>
              <a:rPr b="1" lang="en-US" sz="2400"/>
              <a:t>Authorization</a:t>
            </a:r>
            <a:r>
              <a:rPr lang="en-US" sz="2400"/>
              <a:t> - What does the user have access to</a:t>
            </a:r>
            <a:endParaRPr sz="2400"/>
          </a:p>
          <a:p>
            <a:pPr indent="-381000" lvl="1" marL="914400" rtl="0" algn="l">
              <a:lnSpc>
                <a:spcPct val="90000"/>
              </a:lnSpc>
              <a:spcBef>
                <a:spcPts val="0"/>
              </a:spcBef>
              <a:spcAft>
                <a:spcPts val="0"/>
              </a:spcAft>
              <a:buSzPts val="2400"/>
              <a:buChar char="•"/>
            </a:pPr>
            <a:r>
              <a:rPr lang="en-US" sz="2400"/>
              <a:t>Using access level on user by user basis</a:t>
            </a:r>
            <a:endParaRPr sz="2400"/>
          </a:p>
          <a:p>
            <a:pPr indent="0" lvl="0" marL="0" rtl="0" algn="l">
              <a:lnSpc>
                <a:spcPct val="90000"/>
              </a:lnSpc>
              <a:spcBef>
                <a:spcPts val="0"/>
              </a:spcBef>
              <a:spcAft>
                <a:spcPts val="0"/>
              </a:spcAft>
              <a:buNone/>
            </a:pPr>
            <a:r>
              <a:t/>
            </a:r>
            <a:endParaRPr sz="2400"/>
          </a:p>
          <a:p>
            <a:pPr indent="-381000" lvl="0" marL="457200" rtl="0" algn="l">
              <a:lnSpc>
                <a:spcPct val="90000"/>
              </a:lnSpc>
              <a:spcBef>
                <a:spcPts val="0"/>
              </a:spcBef>
              <a:spcAft>
                <a:spcPts val="0"/>
              </a:spcAft>
              <a:buSzPts val="2400"/>
              <a:buChar char="•"/>
            </a:pPr>
            <a:r>
              <a:rPr b="1" lang="en-US" sz="2400"/>
              <a:t>Accounting</a:t>
            </a:r>
            <a:r>
              <a:rPr lang="en-US" sz="2400"/>
              <a:t> - Logs of what is happening</a:t>
            </a:r>
            <a:endParaRPr sz="2400"/>
          </a:p>
          <a:p>
            <a:pPr indent="-381000" lvl="1" marL="914400" rtl="0" algn="l">
              <a:lnSpc>
                <a:spcPct val="90000"/>
              </a:lnSpc>
              <a:spcBef>
                <a:spcPts val="0"/>
              </a:spcBef>
              <a:spcAft>
                <a:spcPts val="0"/>
              </a:spcAft>
              <a:buSzPts val="2400"/>
              <a:buChar char="•"/>
            </a:pPr>
            <a:r>
              <a:rPr lang="en-US" sz="2400"/>
              <a:t>Changes to the Database</a:t>
            </a:r>
            <a:endParaRPr sz="2400"/>
          </a:p>
          <a:p>
            <a:pPr indent="-381000" lvl="1" marL="914400" rtl="0" algn="l">
              <a:lnSpc>
                <a:spcPct val="90000"/>
              </a:lnSpc>
              <a:spcBef>
                <a:spcPts val="0"/>
              </a:spcBef>
              <a:spcAft>
                <a:spcPts val="0"/>
              </a:spcAft>
              <a:buSzPts val="2400"/>
              <a:buChar char="•"/>
            </a:pPr>
            <a:r>
              <a:rPr lang="en-US" sz="2400"/>
              <a:t>Files access by users</a:t>
            </a:r>
            <a:endParaRPr sz="2400"/>
          </a:p>
          <a:p>
            <a:pPr indent="-381000" lvl="1" marL="914400" rtl="0" algn="l">
              <a:lnSpc>
                <a:spcPct val="90000"/>
              </a:lnSpc>
              <a:spcBef>
                <a:spcPts val="0"/>
              </a:spcBef>
              <a:spcAft>
                <a:spcPts val="0"/>
              </a:spcAft>
              <a:buSzPts val="2400"/>
              <a:buChar char="•"/>
            </a:pPr>
            <a:r>
              <a:rPr lang="en-US" sz="2400"/>
              <a:t>Addition of new users</a:t>
            </a:r>
            <a:endParaRPr sz="2400"/>
          </a:p>
        </p:txBody>
      </p:sp>
      <p:pic>
        <p:nvPicPr>
          <p:cNvPr descr="Green Pace logo" id="191" name="Google Shape;191;p8"/>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9504e29505_0_0"/>
          <p:cNvSpPr txBox="1"/>
          <p:nvPr>
            <p:ph type="title"/>
          </p:nvPr>
        </p:nvSpPr>
        <p:spPr>
          <a:xfrm>
            <a:off x="2895600" y="148499"/>
            <a:ext cx="8610600" cy="9576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Unit Testing</a:t>
            </a:r>
            <a:endParaRPr/>
          </a:p>
        </p:txBody>
      </p:sp>
      <p:pic>
        <p:nvPicPr>
          <p:cNvPr descr="Green Pace logo" id="197" name="Google Shape;197;g9504e29505_0_0"/>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
        <p:nvSpPr>
          <p:cNvPr id="198" name="Google Shape;198;g9504e29505_0_0"/>
          <p:cNvSpPr txBox="1"/>
          <p:nvPr>
            <p:ph type="title"/>
          </p:nvPr>
        </p:nvSpPr>
        <p:spPr>
          <a:xfrm>
            <a:off x="2895600" y="866499"/>
            <a:ext cx="8610600" cy="9576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ReserveMoreThanAvaliable</a:t>
            </a:r>
            <a:endParaRPr/>
          </a:p>
        </p:txBody>
      </p:sp>
      <p:pic>
        <p:nvPicPr>
          <p:cNvPr id="199" name="Google Shape;199;g9504e29505_0_0"/>
          <p:cNvPicPr preferRelativeResize="0"/>
          <p:nvPr/>
        </p:nvPicPr>
        <p:blipFill>
          <a:blip r:embed="rId4">
            <a:alphaModFix/>
          </a:blip>
          <a:stretch>
            <a:fillRect/>
          </a:stretch>
        </p:blipFill>
        <p:spPr>
          <a:xfrm>
            <a:off x="152400" y="1976499"/>
            <a:ext cx="6534150" cy="2905125"/>
          </a:xfrm>
          <a:prstGeom prst="rect">
            <a:avLst/>
          </a:prstGeom>
          <a:noFill/>
          <a:ln>
            <a:noFill/>
          </a:ln>
        </p:spPr>
      </p:pic>
      <p:pic>
        <p:nvPicPr>
          <p:cNvPr id="200" name="Google Shape;200;g9504e29505_0_0"/>
          <p:cNvPicPr preferRelativeResize="0"/>
          <p:nvPr/>
        </p:nvPicPr>
        <p:blipFill>
          <a:blip r:embed="rId5">
            <a:alphaModFix/>
          </a:blip>
          <a:stretch>
            <a:fillRect/>
          </a:stretch>
        </p:blipFill>
        <p:spPr>
          <a:xfrm>
            <a:off x="4671500" y="5153325"/>
            <a:ext cx="6303650" cy="507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017c51a07a_0_16"/>
          <p:cNvSpPr txBox="1"/>
          <p:nvPr>
            <p:ph type="title"/>
          </p:nvPr>
        </p:nvSpPr>
        <p:spPr>
          <a:xfrm>
            <a:off x="2895600" y="148499"/>
            <a:ext cx="8610600" cy="9576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Unit Testing</a:t>
            </a:r>
            <a:endParaRPr/>
          </a:p>
        </p:txBody>
      </p:sp>
      <p:pic>
        <p:nvPicPr>
          <p:cNvPr descr="Green Pace logo" id="206" name="Google Shape;206;g3017c51a07a_0_16"/>
          <p:cNvPicPr preferRelativeResize="0"/>
          <p:nvPr/>
        </p:nvPicPr>
        <p:blipFill rotWithShape="1">
          <a:blip r:embed="rId3">
            <a:alphaModFix/>
          </a:blip>
          <a:srcRect b="0" l="0" r="0" t="0"/>
          <a:stretch/>
        </p:blipFill>
        <p:spPr>
          <a:xfrm>
            <a:off x="11084074" y="5440526"/>
            <a:ext cx="886603" cy="1149223"/>
          </a:xfrm>
          <a:prstGeom prst="rect">
            <a:avLst/>
          </a:prstGeom>
          <a:noFill/>
          <a:ln>
            <a:noFill/>
          </a:ln>
        </p:spPr>
      </p:pic>
      <p:sp>
        <p:nvSpPr>
          <p:cNvPr id="207" name="Google Shape;207;g3017c51a07a_0_16"/>
          <p:cNvSpPr txBox="1"/>
          <p:nvPr>
            <p:ph type="title"/>
          </p:nvPr>
        </p:nvSpPr>
        <p:spPr>
          <a:xfrm>
            <a:off x="2895600" y="866499"/>
            <a:ext cx="8610600" cy="9576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EraseClearsCollection</a:t>
            </a:r>
            <a:endParaRPr/>
          </a:p>
        </p:txBody>
      </p:sp>
      <p:pic>
        <p:nvPicPr>
          <p:cNvPr id="208" name="Google Shape;208;g3017c51a07a_0_16"/>
          <p:cNvPicPr preferRelativeResize="0"/>
          <p:nvPr/>
        </p:nvPicPr>
        <p:blipFill>
          <a:blip r:embed="rId4">
            <a:alphaModFix/>
          </a:blip>
          <a:stretch>
            <a:fillRect/>
          </a:stretch>
        </p:blipFill>
        <p:spPr>
          <a:xfrm>
            <a:off x="4914523" y="5247500"/>
            <a:ext cx="5860599" cy="655425"/>
          </a:xfrm>
          <a:prstGeom prst="rect">
            <a:avLst/>
          </a:prstGeom>
          <a:noFill/>
          <a:ln>
            <a:noFill/>
          </a:ln>
        </p:spPr>
      </p:pic>
      <p:pic>
        <p:nvPicPr>
          <p:cNvPr id="209" name="Google Shape;209;g3017c51a07a_0_16"/>
          <p:cNvPicPr preferRelativeResize="0"/>
          <p:nvPr/>
        </p:nvPicPr>
        <p:blipFill>
          <a:blip r:embed="rId5">
            <a:alphaModFix/>
          </a:blip>
          <a:stretch>
            <a:fillRect/>
          </a:stretch>
        </p:blipFill>
        <p:spPr>
          <a:xfrm>
            <a:off x="403800" y="1900299"/>
            <a:ext cx="5783917" cy="31186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017c51a07a_0_44"/>
          <p:cNvSpPr txBox="1"/>
          <p:nvPr>
            <p:ph type="title"/>
          </p:nvPr>
        </p:nvSpPr>
        <p:spPr>
          <a:xfrm>
            <a:off x="2895600" y="148499"/>
            <a:ext cx="8610600" cy="9576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Unit Testing</a:t>
            </a:r>
            <a:endParaRPr/>
          </a:p>
        </p:txBody>
      </p:sp>
      <p:pic>
        <p:nvPicPr>
          <p:cNvPr descr="Green Pace logo" id="215" name="Google Shape;215;g3017c51a07a_0_44"/>
          <p:cNvPicPr preferRelativeResize="0"/>
          <p:nvPr/>
        </p:nvPicPr>
        <p:blipFill rotWithShape="1">
          <a:blip r:embed="rId3">
            <a:alphaModFix/>
          </a:blip>
          <a:srcRect b="0" l="0" r="0" t="0"/>
          <a:stretch/>
        </p:blipFill>
        <p:spPr>
          <a:xfrm>
            <a:off x="11084074" y="5440526"/>
            <a:ext cx="886603" cy="1149223"/>
          </a:xfrm>
          <a:prstGeom prst="rect">
            <a:avLst/>
          </a:prstGeom>
          <a:noFill/>
          <a:ln>
            <a:noFill/>
          </a:ln>
        </p:spPr>
      </p:pic>
      <p:sp>
        <p:nvSpPr>
          <p:cNvPr id="216" name="Google Shape;216;g3017c51a07a_0_44"/>
          <p:cNvSpPr txBox="1"/>
          <p:nvPr>
            <p:ph type="title"/>
          </p:nvPr>
        </p:nvSpPr>
        <p:spPr>
          <a:xfrm>
            <a:off x="2895600" y="866499"/>
            <a:ext cx="8610600" cy="9576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ThrowOutOfRange</a:t>
            </a:r>
            <a:endParaRPr/>
          </a:p>
        </p:txBody>
      </p:sp>
      <p:pic>
        <p:nvPicPr>
          <p:cNvPr id="217" name="Google Shape;217;g3017c51a07a_0_44"/>
          <p:cNvPicPr preferRelativeResize="0"/>
          <p:nvPr/>
        </p:nvPicPr>
        <p:blipFill>
          <a:blip r:embed="rId4">
            <a:alphaModFix/>
          </a:blip>
          <a:stretch>
            <a:fillRect/>
          </a:stretch>
        </p:blipFill>
        <p:spPr>
          <a:xfrm>
            <a:off x="516925" y="2215324"/>
            <a:ext cx="5867400" cy="2657475"/>
          </a:xfrm>
          <a:prstGeom prst="rect">
            <a:avLst/>
          </a:prstGeom>
          <a:noFill/>
          <a:ln>
            <a:noFill/>
          </a:ln>
        </p:spPr>
      </p:pic>
      <p:pic>
        <p:nvPicPr>
          <p:cNvPr id="218" name="Google Shape;218;g3017c51a07a_0_44"/>
          <p:cNvPicPr preferRelativeResize="0"/>
          <p:nvPr/>
        </p:nvPicPr>
        <p:blipFill>
          <a:blip r:embed="rId5">
            <a:alphaModFix/>
          </a:blip>
          <a:stretch>
            <a:fillRect/>
          </a:stretch>
        </p:blipFill>
        <p:spPr>
          <a:xfrm>
            <a:off x="4979800" y="5126300"/>
            <a:ext cx="5033323" cy="594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017c51a07a_0_38"/>
          <p:cNvSpPr txBox="1"/>
          <p:nvPr>
            <p:ph type="title"/>
          </p:nvPr>
        </p:nvSpPr>
        <p:spPr>
          <a:xfrm>
            <a:off x="2895600" y="148499"/>
            <a:ext cx="8610600" cy="9576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Unit Testing</a:t>
            </a:r>
            <a:endParaRPr/>
          </a:p>
        </p:txBody>
      </p:sp>
      <p:pic>
        <p:nvPicPr>
          <p:cNvPr descr="Green Pace logo" id="224" name="Google Shape;224;g3017c51a07a_0_38"/>
          <p:cNvPicPr preferRelativeResize="0"/>
          <p:nvPr/>
        </p:nvPicPr>
        <p:blipFill rotWithShape="1">
          <a:blip r:embed="rId3">
            <a:alphaModFix/>
          </a:blip>
          <a:srcRect b="0" l="0" r="0" t="0"/>
          <a:stretch/>
        </p:blipFill>
        <p:spPr>
          <a:xfrm>
            <a:off x="11084074" y="5440526"/>
            <a:ext cx="886603" cy="1149223"/>
          </a:xfrm>
          <a:prstGeom prst="rect">
            <a:avLst/>
          </a:prstGeom>
          <a:noFill/>
          <a:ln>
            <a:noFill/>
          </a:ln>
        </p:spPr>
      </p:pic>
      <p:sp>
        <p:nvSpPr>
          <p:cNvPr id="225" name="Google Shape;225;g3017c51a07a_0_38"/>
          <p:cNvSpPr txBox="1"/>
          <p:nvPr>
            <p:ph type="title"/>
          </p:nvPr>
        </p:nvSpPr>
        <p:spPr>
          <a:xfrm>
            <a:off x="2895600" y="866499"/>
            <a:ext cx="8610600" cy="9576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CollectionSmartPointerIsNotNull</a:t>
            </a:r>
            <a:endParaRPr/>
          </a:p>
        </p:txBody>
      </p:sp>
      <p:pic>
        <p:nvPicPr>
          <p:cNvPr id="226" name="Google Shape;226;g3017c51a07a_0_38"/>
          <p:cNvPicPr preferRelativeResize="0"/>
          <p:nvPr/>
        </p:nvPicPr>
        <p:blipFill>
          <a:blip r:embed="rId4">
            <a:alphaModFix/>
          </a:blip>
          <a:stretch>
            <a:fillRect/>
          </a:stretch>
        </p:blipFill>
        <p:spPr>
          <a:xfrm>
            <a:off x="604900" y="2102174"/>
            <a:ext cx="5029200" cy="1676400"/>
          </a:xfrm>
          <a:prstGeom prst="rect">
            <a:avLst/>
          </a:prstGeom>
          <a:noFill/>
          <a:ln>
            <a:noFill/>
          </a:ln>
        </p:spPr>
      </p:pic>
      <p:pic>
        <p:nvPicPr>
          <p:cNvPr id="227" name="Google Shape;227;g3017c51a07a_0_38"/>
          <p:cNvPicPr preferRelativeResize="0"/>
          <p:nvPr/>
        </p:nvPicPr>
        <p:blipFill>
          <a:blip r:embed="rId5">
            <a:alphaModFix/>
          </a:blip>
          <a:stretch>
            <a:fillRect/>
          </a:stretch>
        </p:blipFill>
        <p:spPr>
          <a:xfrm>
            <a:off x="3999713" y="4473925"/>
            <a:ext cx="6402375" cy="642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AUTOMATION SUMMARY</a:t>
            </a:r>
            <a:endParaRPr/>
          </a:p>
        </p:txBody>
      </p:sp>
      <p:pic>
        <p:nvPicPr>
          <p:cNvPr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id="233" name="Google Shape;233;p9"/>
          <p:cNvPicPr preferRelativeResize="0"/>
          <p:nvPr>
            <p:ph idx="1" type="body"/>
          </p:nvPr>
        </p:nvPicPr>
        <p:blipFill rotWithShape="1">
          <a:blip r:embed="rId3">
            <a:alphaModFix/>
          </a:blip>
          <a:srcRect b="0" l="0" r="0" t="0"/>
          <a:stretch/>
        </p:blipFill>
        <p:spPr>
          <a:xfrm>
            <a:off x="2127250" y="2199481"/>
            <a:ext cx="7937500" cy="4013200"/>
          </a:xfrm>
          <a:prstGeom prst="rect">
            <a:avLst/>
          </a:prstGeom>
          <a:noFill/>
          <a:ln>
            <a:noFill/>
          </a:ln>
        </p:spPr>
      </p:pic>
      <p:pic>
        <p:nvPicPr>
          <p:cNvPr descr="Green Pace logo" id="234" name="Google Shape;234;p9"/>
          <p:cNvPicPr preferRelativeResize="0"/>
          <p:nvPr/>
        </p:nvPicPr>
        <p:blipFill rotWithShape="1">
          <a:blip r:embed="rId4">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0"/>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TOOLS</a:t>
            </a:r>
            <a:endParaRPr/>
          </a:p>
        </p:txBody>
      </p:sp>
      <p:sp>
        <p:nvSpPr>
          <p:cNvPr id="240" name="Google Shape;240;p10"/>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lt1"/>
              </a:buClr>
              <a:buSzPts val="2000"/>
              <a:buChar char="•"/>
            </a:pPr>
            <a:r>
              <a:rPr lang="en-US"/>
              <a:t>A DevSecOps </a:t>
            </a:r>
            <a:r>
              <a:rPr lang="en-US"/>
              <a:t>Pipeline</a:t>
            </a:r>
            <a:r>
              <a:rPr lang="en-US"/>
              <a:t> is a DevOps with integrated </a:t>
            </a:r>
            <a:r>
              <a:rPr lang="en-US"/>
              <a:t>security</a:t>
            </a:r>
            <a:r>
              <a:rPr lang="en-US"/>
              <a:t> </a:t>
            </a:r>
            <a:r>
              <a:rPr lang="en-US"/>
              <a:t>throughout</a:t>
            </a:r>
            <a:r>
              <a:rPr lang="en-US"/>
              <a:t> all </a:t>
            </a:r>
            <a:r>
              <a:rPr lang="en-US"/>
              <a:t>steps</a:t>
            </a:r>
            <a:endParaRPr/>
          </a:p>
          <a:p>
            <a:pPr indent="0" lvl="0" marL="0" rtl="0" algn="l">
              <a:lnSpc>
                <a:spcPct val="90000"/>
              </a:lnSpc>
              <a:spcBef>
                <a:spcPts val="500"/>
              </a:spcBef>
              <a:spcAft>
                <a:spcPts val="0"/>
              </a:spcAft>
              <a:buNone/>
            </a:pPr>
            <a:r>
              <a:t/>
            </a:r>
            <a:endParaRPr sz="1600"/>
          </a:p>
          <a:p>
            <a:pPr indent="0" lvl="0" marL="0" rtl="0" algn="l">
              <a:lnSpc>
                <a:spcPct val="90000"/>
              </a:lnSpc>
              <a:spcBef>
                <a:spcPts val="500"/>
              </a:spcBef>
              <a:spcAft>
                <a:spcPts val="0"/>
              </a:spcAft>
              <a:buNone/>
            </a:pPr>
            <a:r>
              <a:rPr lang="en-US" sz="1600"/>
              <a:t>	Automation Tools</a:t>
            </a:r>
            <a:endParaRPr sz="1600"/>
          </a:p>
          <a:p>
            <a:pPr indent="-330200" lvl="0" marL="914400" rtl="0" algn="l">
              <a:lnSpc>
                <a:spcPct val="90000"/>
              </a:lnSpc>
              <a:spcBef>
                <a:spcPts val="500"/>
              </a:spcBef>
              <a:spcAft>
                <a:spcPts val="0"/>
              </a:spcAft>
              <a:buSzPts val="1600"/>
              <a:buChar char="•"/>
            </a:pPr>
            <a:r>
              <a:rPr lang="en-US" sz="1600"/>
              <a:t>Cppcheck - used during design stage for coding errors</a:t>
            </a:r>
            <a:endParaRPr sz="1600"/>
          </a:p>
          <a:p>
            <a:pPr indent="-330200" lvl="1" marL="1828800" rtl="0" algn="l">
              <a:lnSpc>
                <a:spcPct val="90000"/>
              </a:lnSpc>
              <a:spcBef>
                <a:spcPts val="0"/>
              </a:spcBef>
              <a:spcAft>
                <a:spcPts val="0"/>
              </a:spcAft>
              <a:buSzPts val="1600"/>
              <a:buChar char="•"/>
            </a:pPr>
            <a:r>
              <a:rPr lang="en-US" sz="1600" u="sng">
                <a:solidFill>
                  <a:schemeClr val="hlink"/>
                </a:solidFill>
                <a:hlinkClick r:id="rId3"/>
              </a:rPr>
              <a:t>https://cppcheck.sourceforge.io/</a:t>
            </a:r>
            <a:r>
              <a:rPr lang="en-US" sz="1600"/>
              <a:t> </a:t>
            </a:r>
            <a:endParaRPr sz="1600"/>
          </a:p>
          <a:p>
            <a:pPr indent="0" lvl="0" marL="1828800" rtl="0" algn="l">
              <a:lnSpc>
                <a:spcPct val="90000"/>
              </a:lnSpc>
              <a:spcBef>
                <a:spcPts val="500"/>
              </a:spcBef>
              <a:spcAft>
                <a:spcPts val="0"/>
              </a:spcAft>
              <a:buNone/>
            </a:pPr>
            <a:r>
              <a:t/>
            </a:r>
            <a:endParaRPr sz="1600"/>
          </a:p>
          <a:p>
            <a:pPr indent="-330200" lvl="0" marL="914400" rtl="0" algn="l">
              <a:lnSpc>
                <a:spcPct val="90000"/>
              </a:lnSpc>
              <a:spcBef>
                <a:spcPts val="500"/>
              </a:spcBef>
              <a:spcAft>
                <a:spcPts val="0"/>
              </a:spcAft>
              <a:buSzPts val="1600"/>
              <a:buChar char="•"/>
            </a:pPr>
            <a:r>
              <a:rPr lang="en-US" sz="1600"/>
              <a:t>Clang - Used during design stage for coding errors</a:t>
            </a:r>
            <a:endParaRPr sz="1600"/>
          </a:p>
          <a:p>
            <a:pPr indent="-330200" lvl="1" marL="1828800" rtl="0" algn="l">
              <a:lnSpc>
                <a:spcPct val="90000"/>
              </a:lnSpc>
              <a:spcBef>
                <a:spcPts val="0"/>
              </a:spcBef>
              <a:spcAft>
                <a:spcPts val="0"/>
              </a:spcAft>
              <a:buSzPts val="1600"/>
              <a:buChar char="•"/>
            </a:pPr>
            <a:r>
              <a:rPr lang="en-US" sz="1600" u="sng">
                <a:solidFill>
                  <a:schemeClr val="hlink"/>
                </a:solidFill>
                <a:hlinkClick r:id="rId4"/>
              </a:rPr>
              <a:t>https://clang.org/</a:t>
            </a:r>
            <a:endParaRPr sz="1600"/>
          </a:p>
          <a:p>
            <a:pPr indent="0" lvl="0" marL="1828800" rtl="0" algn="l">
              <a:lnSpc>
                <a:spcPct val="90000"/>
              </a:lnSpc>
              <a:spcBef>
                <a:spcPts val="500"/>
              </a:spcBef>
              <a:spcAft>
                <a:spcPts val="0"/>
              </a:spcAft>
              <a:buNone/>
            </a:pPr>
            <a:r>
              <a:t/>
            </a:r>
            <a:endParaRPr sz="1600"/>
          </a:p>
          <a:p>
            <a:pPr indent="-330200" lvl="0" marL="914400" rtl="0" algn="l">
              <a:lnSpc>
                <a:spcPct val="90000"/>
              </a:lnSpc>
              <a:spcBef>
                <a:spcPts val="500"/>
              </a:spcBef>
              <a:spcAft>
                <a:spcPts val="0"/>
              </a:spcAft>
              <a:buSzPts val="1600"/>
              <a:buChar char="•"/>
            </a:pPr>
            <a:r>
              <a:rPr lang="en-US" sz="1600"/>
              <a:t>Parasoft C/C++ test - used during design, verify/test, and transition stages</a:t>
            </a:r>
            <a:endParaRPr sz="1600"/>
          </a:p>
          <a:p>
            <a:pPr indent="-330200" lvl="1" marL="1828800" rtl="0" algn="l">
              <a:lnSpc>
                <a:spcPct val="90000"/>
              </a:lnSpc>
              <a:spcBef>
                <a:spcPts val="0"/>
              </a:spcBef>
              <a:spcAft>
                <a:spcPts val="0"/>
              </a:spcAft>
              <a:buSzPts val="1600"/>
              <a:buChar char="•"/>
            </a:pPr>
            <a:r>
              <a:rPr lang="en-US" sz="1600" u="sng">
                <a:solidFill>
                  <a:schemeClr val="hlink"/>
                </a:solidFill>
                <a:hlinkClick r:id="rId5"/>
              </a:rPr>
              <a:t>https://www.parasoft.com/</a:t>
            </a:r>
            <a:r>
              <a:rPr lang="en-US" sz="1600"/>
              <a:t> </a:t>
            </a:r>
            <a:endParaRPr sz="1600"/>
          </a:p>
          <a:p>
            <a:pPr indent="0" lvl="0" marL="1828800" rtl="0" algn="l">
              <a:lnSpc>
                <a:spcPct val="90000"/>
              </a:lnSpc>
              <a:spcBef>
                <a:spcPts val="500"/>
              </a:spcBef>
              <a:spcAft>
                <a:spcPts val="0"/>
              </a:spcAft>
              <a:buNone/>
            </a:pPr>
            <a:r>
              <a:t/>
            </a:r>
            <a:endParaRPr sz="1600"/>
          </a:p>
          <a:p>
            <a:pPr indent="-330200" lvl="0" marL="914400" rtl="0" algn="l">
              <a:lnSpc>
                <a:spcPct val="90000"/>
              </a:lnSpc>
              <a:spcBef>
                <a:spcPts val="500"/>
              </a:spcBef>
              <a:spcAft>
                <a:spcPts val="0"/>
              </a:spcAft>
              <a:buSzPts val="1600"/>
              <a:buChar char="•"/>
            </a:pPr>
            <a:r>
              <a:rPr lang="en-US" sz="1600"/>
              <a:t>Papertrail - log management and analysis</a:t>
            </a:r>
            <a:endParaRPr sz="1600"/>
          </a:p>
          <a:p>
            <a:pPr indent="-330200" lvl="1" marL="1828800" rtl="0" algn="l">
              <a:lnSpc>
                <a:spcPct val="90000"/>
              </a:lnSpc>
              <a:spcBef>
                <a:spcPts val="0"/>
              </a:spcBef>
              <a:spcAft>
                <a:spcPts val="0"/>
              </a:spcAft>
              <a:buSzPts val="1600"/>
              <a:buChar char="•"/>
            </a:pPr>
            <a:r>
              <a:rPr lang="en-US" sz="1600" u="sng">
                <a:solidFill>
                  <a:schemeClr val="hlink"/>
                </a:solidFill>
                <a:hlinkClick r:id="rId6"/>
              </a:rPr>
              <a:t>https://www.papertrail.com/</a:t>
            </a:r>
            <a:r>
              <a:rPr lang="en-US" sz="1600"/>
              <a:t> </a:t>
            </a:r>
            <a:endParaRPr sz="1600"/>
          </a:p>
        </p:txBody>
      </p:sp>
      <p:pic>
        <p:nvPicPr>
          <p:cNvPr descr="Green Pace logo" id="241" name="Google Shape;241;p10"/>
          <p:cNvPicPr preferRelativeResize="0"/>
          <p:nvPr/>
        </p:nvPicPr>
        <p:blipFill rotWithShape="1">
          <a:blip r:embed="rId7">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1"/>
          <p:cNvSpPr txBox="1"/>
          <p:nvPr>
            <p:ph type="title"/>
          </p:nvPr>
        </p:nvSpPr>
        <p:spPr>
          <a:xfrm>
            <a:off x="2895600" y="776948"/>
            <a:ext cx="86106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RISKS AND BENEFITS</a:t>
            </a:r>
            <a:endParaRPr/>
          </a:p>
        </p:txBody>
      </p:sp>
      <p:sp>
        <p:nvSpPr>
          <p:cNvPr id="247" name="Google Shape;247;p11"/>
          <p:cNvSpPr txBox="1"/>
          <p:nvPr>
            <p:ph idx="1" type="body"/>
          </p:nvPr>
        </p:nvSpPr>
        <p:spPr>
          <a:xfrm>
            <a:off x="685800" y="2182000"/>
            <a:ext cx="5410200" cy="4024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2000"/>
              <a:t>PROS:</a:t>
            </a:r>
            <a:endParaRPr sz="2000"/>
          </a:p>
          <a:p>
            <a:pPr indent="-355600" lvl="0" marL="457200" rtl="0" algn="l">
              <a:lnSpc>
                <a:spcPct val="90000"/>
              </a:lnSpc>
              <a:spcBef>
                <a:spcPts val="0"/>
              </a:spcBef>
              <a:spcAft>
                <a:spcPts val="0"/>
              </a:spcAft>
              <a:buSzPts val="2000"/>
              <a:buChar char="•"/>
            </a:pPr>
            <a:r>
              <a:rPr lang="en-US" sz="2000"/>
              <a:t>Preventative</a:t>
            </a:r>
            <a:endParaRPr sz="2000"/>
          </a:p>
          <a:p>
            <a:pPr indent="0" lvl="0" marL="0" rtl="0" algn="l">
              <a:lnSpc>
                <a:spcPct val="90000"/>
              </a:lnSpc>
              <a:spcBef>
                <a:spcPts val="0"/>
              </a:spcBef>
              <a:spcAft>
                <a:spcPts val="0"/>
              </a:spcAft>
              <a:buNone/>
            </a:pPr>
            <a:r>
              <a:t/>
            </a:r>
            <a:endParaRPr sz="2000"/>
          </a:p>
          <a:p>
            <a:pPr indent="-355600" lvl="0" marL="457200" rtl="0" algn="l">
              <a:lnSpc>
                <a:spcPct val="90000"/>
              </a:lnSpc>
              <a:spcBef>
                <a:spcPts val="0"/>
              </a:spcBef>
              <a:spcAft>
                <a:spcPts val="0"/>
              </a:spcAft>
              <a:buSzPts val="2000"/>
              <a:buChar char="•"/>
            </a:pPr>
            <a:r>
              <a:rPr lang="en-US" sz="2000"/>
              <a:t>Early implementation is more effective</a:t>
            </a:r>
            <a:endParaRPr sz="2000"/>
          </a:p>
          <a:p>
            <a:pPr indent="0" lvl="0" marL="0" rtl="0" algn="l">
              <a:lnSpc>
                <a:spcPct val="90000"/>
              </a:lnSpc>
              <a:spcBef>
                <a:spcPts val="0"/>
              </a:spcBef>
              <a:spcAft>
                <a:spcPts val="0"/>
              </a:spcAft>
              <a:buNone/>
            </a:pPr>
            <a:r>
              <a:t/>
            </a:r>
            <a:endParaRPr sz="2000"/>
          </a:p>
          <a:p>
            <a:pPr indent="-355600" lvl="0" marL="457200" rtl="0" algn="l">
              <a:lnSpc>
                <a:spcPct val="90000"/>
              </a:lnSpc>
              <a:spcBef>
                <a:spcPts val="0"/>
              </a:spcBef>
              <a:spcAft>
                <a:spcPts val="0"/>
              </a:spcAft>
              <a:buSzPts val="2000"/>
              <a:buChar char="•"/>
            </a:pPr>
            <a:r>
              <a:rPr lang="en-US" sz="2000"/>
              <a:t>Less vulnerabilities</a:t>
            </a:r>
            <a:endParaRPr sz="2000"/>
          </a:p>
          <a:p>
            <a:pPr indent="0" lvl="0" marL="0" rtl="0" algn="l">
              <a:lnSpc>
                <a:spcPct val="90000"/>
              </a:lnSpc>
              <a:spcBef>
                <a:spcPts val="0"/>
              </a:spcBef>
              <a:spcAft>
                <a:spcPts val="0"/>
              </a:spcAft>
              <a:buNone/>
            </a:pPr>
            <a:r>
              <a:t/>
            </a:r>
            <a:endParaRPr sz="2000"/>
          </a:p>
          <a:p>
            <a:pPr indent="-355600" lvl="0" marL="457200" rtl="0" algn="l">
              <a:lnSpc>
                <a:spcPct val="90000"/>
              </a:lnSpc>
              <a:spcBef>
                <a:spcPts val="0"/>
              </a:spcBef>
              <a:spcAft>
                <a:spcPts val="0"/>
              </a:spcAft>
              <a:buSzPts val="2000"/>
              <a:buChar char="•"/>
            </a:pPr>
            <a:r>
              <a:rPr lang="en-US" sz="2000"/>
              <a:t>Stronger Security</a:t>
            </a:r>
            <a:endParaRPr sz="2000"/>
          </a:p>
          <a:p>
            <a:pPr indent="0" lvl="0" marL="457200" rtl="0" algn="l">
              <a:lnSpc>
                <a:spcPct val="90000"/>
              </a:lnSpc>
              <a:spcBef>
                <a:spcPts val="0"/>
              </a:spcBef>
              <a:spcAft>
                <a:spcPts val="0"/>
              </a:spcAft>
              <a:buNone/>
            </a:pPr>
            <a:r>
              <a:t/>
            </a:r>
            <a:endParaRPr sz="2000"/>
          </a:p>
        </p:txBody>
      </p:sp>
      <p:pic>
        <p:nvPicPr>
          <p:cNvPr descr="Green Pace logo" id="248" name="Google Shape;248;p11"/>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
        <p:nvSpPr>
          <p:cNvPr id="249" name="Google Shape;249;p11"/>
          <p:cNvSpPr txBox="1"/>
          <p:nvPr>
            <p:ph idx="1" type="body"/>
          </p:nvPr>
        </p:nvSpPr>
        <p:spPr>
          <a:xfrm>
            <a:off x="6096000" y="2346950"/>
            <a:ext cx="5410200" cy="4024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2000"/>
              <a:t>CONS:</a:t>
            </a:r>
            <a:endParaRPr sz="2000"/>
          </a:p>
          <a:p>
            <a:pPr indent="-355600" lvl="0" marL="457200" rtl="0" algn="l">
              <a:lnSpc>
                <a:spcPct val="90000"/>
              </a:lnSpc>
              <a:spcBef>
                <a:spcPts val="0"/>
              </a:spcBef>
              <a:spcAft>
                <a:spcPts val="0"/>
              </a:spcAft>
              <a:buSzPts val="2000"/>
              <a:buChar char="•"/>
            </a:pPr>
            <a:r>
              <a:rPr lang="en-US" sz="2000"/>
              <a:t>Time to implement all aspects</a:t>
            </a:r>
            <a:endParaRPr sz="2000"/>
          </a:p>
          <a:p>
            <a:pPr indent="0" lvl="0" marL="0" rtl="0" algn="l">
              <a:lnSpc>
                <a:spcPct val="90000"/>
              </a:lnSpc>
              <a:spcBef>
                <a:spcPts val="0"/>
              </a:spcBef>
              <a:spcAft>
                <a:spcPts val="0"/>
              </a:spcAft>
              <a:buNone/>
            </a:pPr>
            <a:r>
              <a:t/>
            </a:r>
            <a:endParaRPr sz="2000"/>
          </a:p>
          <a:p>
            <a:pPr indent="-355600" lvl="0" marL="457200" rtl="0" algn="l">
              <a:lnSpc>
                <a:spcPct val="90000"/>
              </a:lnSpc>
              <a:spcBef>
                <a:spcPts val="0"/>
              </a:spcBef>
              <a:spcAft>
                <a:spcPts val="0"/>
              </a:spcAft>
              <a:buSzPts val="2000"/>
              <a:buChar char="•"/>
            </a:pPr>
            <a:r>
              <a:rPr lang="en-US" sz="2000"/>
              <a:t>Upfront Cost to implement</a:t>
            </a:r>
            <a:endParaRPr sz="2000"/>
          </a:p>
          <a:p>
            <a:pPr indent="0" lvl="0" marL="0" rtl="0" algn="l">
              <a:lnSpc>
                <a:spcPct val="90000"/>
              </a:lnSpc>
              <a:spcBef>
                <a:spcPts val="0"/>
              </a:spcBef>
              <a:spcAft>
                <a:spcPts val="0"/>
              </a:spcAft>
              <a:buNone/>
            </a:pPr>
            <a:r>
              <a:t/>
            </a:r>
            <a:endParaRPr sz="2000"/>
          </a:p>
          <a:p>
            <a:pPr indent="-355600" lvl="0" marL="457200" rtl="0" algn="l">
              <a:lnSpc>
                <a:spcPct val="90000"/>
              </a:lnSpc>
              <a:spcBef>
                <a:spcPts val="0"/>
              </a:spcBef>
              <a:spcAft>
                <a:spcPts val="0"/>
              </a:spcAft>
              <a:buSzPts val="2000"/>
              <a:buChar char="•"/>
            </a:pPr>
            <a:r>
              <a:rPr lang="en-US" sz="2000"/>
              <a:t>More complex to manage</a:t>
            </a:r>
            <a:endParaRPr sz="2000"/>
          </a:p>
          <a:p>
            <a:pPr indent="0" lvl="0" marL="0" rtl="0" algn="l">
              <a:lnSpc>
                <a:spcPct val="90000"/>
              </a:lnSpc>
              <a:spcBef>
                <a:spcPts val="0"/>
              </a:spcBef>
              <a:spcAft>
                <a:spcPts val="0"/>
              </a:spcAft>
              <a:buNone/>
            </a:pPr>
            <a:r>
              <a:t/>
            </a:r>
            <a:endParaRPr sz="2000"/>
          </a:p>
          <a:p>
            <a:pPr indent="-355600" lvl="0" marL="457200" rtl="0" algn="l">
              <a:lnSpc>
                <a:spcPct val="90000"/>
              </a:lnSpc>
              <a:spcBef>
                <a:spcPts val="0"/>
              </a:spcBef>
              <a:spcAft>
                <a:spcPts val="0"/>
              </a:spcAft>
              <a:buSzPts val="2000"/>
              <a:buChar char="•"/>
            </a:pPr>
            <a:r>
              <a:rPr lang="en-US" sz="2000"/>
              <a:t>Need more expertise to implement fully</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RECOMMENDATIONS</a:t>
            </a:r>
            <a:endParaRPr/>
          </a:p>
        </p:txBody>
      </p:sp>
      <p:sp>
        <p:nvSpPr>
          <p:cNvPr id="255" name="Google Shape;255;p12"/>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66700" lvl="2" marL="1143000" rtl="0" algn="l">
              <a:lnSpc>
                <a:spcPct val="90000"/>
              </a:lnSpc>
              <a:spcBef>
                <a:spcPts val="0"/>
              </a:spcBef>
              <a:spcAft>
                <a:spcPts val="0"/>
              </a:spcAft>
              <a:buClr>
                <a:schemeClr val="lt1"/>
              </a:buClr>
              <a:buSzPts val="2400"/>
              <a:buChar char="•"/>
            </a:pPr>
            <a:r>
              <a:rPr lang="en-US" sz="2400"/>
              <a:t>Policy should be reviewed on a </a:t>
            </a:r>
            <a:r>
              <a:rPr lang="en-US" sz="2400"/>
              <a:t>yearly</a:t>
            </a:r>
            <a:r>
              <a:rPr lang="en-US" sz="2400"/>
              <a:t> basis to check for weak points and updated </a:t>
            </a:r>
            <a:r>
              <a:rPr lang="en-US" sz="2400"/>
              <a:t>accordingly</a:t>
            </a:r>
            <a:endParaRPr sz="2400"/>
          </a:p>
          <a:p>
            <a:pPr indent="0" lvl="0" marL="914400" rtl="0" algn="l">
              <a:lnSpc>
                <a:spcPct val="90000"/>
              </a:lnSpc>
              <a:spcBef>
                <a:spcPts val="0"/>
              </a:spcBef>
              <a:spcAft>
                <a:spcPts val="0"/>
              </a:spcAft>
              <a:buNone/>
            </a:pPr>
            <a:r>
              <a:t/>
            </a:r>
            <a:endParaRPr sz="2800"/>
          </a:p>
          <a:p>
            <a:pPr indent="-266700" lvl="2" marL="1143000" rtl="0" algn="l">
              <a:lnSpc>
                <a:spcPct val="90000"/>
              </a:lnSpc>
              <a:spcBef>
                <a:spcPts val="0"/>
              </a:spcBef>
              <a:spcAft>
                <a:spcPts val="0"/>
              </a:spcAft>
              <a:buSzPts val="2400"/>
              <a:buChar char="•"/>
            </a:pPr>
            <a:r>
              <a:rPr lang="en-US" sz="2400"/>
              <a:t>Security checks should be conducted by a third party security firm</a:t>
            </a:r>
            <a:endParaRPr sz="2400"/>
          </a:p>
          <a:p>
            <a:pPr indent="0" lvl="0" marL="914400" rtl="0" algn="l">
              <a:lnSpc>
                <a:spcPct val="90000"/>
              </a:lnSpc>
              <a:spcBef>
                <a:spcPts val="0"/>
              </a:spcBef>
              <a:spcAft>
                <a:spcPts val="0"/>
              </a:spcAft>
              <a:buNone/>
            </a:pPr>
            <a:r>
              <a:t/>
            </a:r>
            <a:endParaRPr sz="2800"/>
          </a:p>
          <a:p>
            <a:pPr indent="-266700" lvl="2" marL="1143000" rtl="0" algn="l">
              <a:lnSpc>
                <a:spcPct val="90000"/>
              </a:lnSpc>
              <a:spcBef>
                <a:spcPts val="0"/>
              </a:spcBef>
              <a:spcAft>
                <a:spcPts val="0"/>
              </a:spcAft>
              <a:buSzPts val="2400"/>
              <a:buChar char="•"/>
            </a:pPr>
            <a:r>
              <a:rPr lang="en-US" sz="2400"/>
              <a:t>Response to security flaws in post production phase should be outlined</a:t>
            </a:r>
            <a:endParaRPr sz="2400"/>
          </a:p>
        </p:txBody>
      </p:sp>
      <p:pic>
        <p:nvPicPr>
          <p:cNvPr descr="Green Pace logo" id="256" name="Google Shape;256;p12"/>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CONCLUSIONS</a:t>
            </a:r>
            <a:endParaRPr/>
          </a:p>
        </p:txBody>
      </p:sp>
      <p:sp>
        <p:nvSpPr>
          <p:cNvPr id="262" name="Google Shape;262;p13"/>
          <p:cNvSpPr txBox="1"/>
          <p:nvPr>
            <p:ph idx="1" type="body"/>
          </p:nvPr>
        </p:nvSpPr>
        <p:spPr>
          <a:xfrm>
            <a:off x="685800" y="2194550"/>
            <a:ext cx="3914400" cy="4024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n-US"/>
              <a:t>Security Matters</a:t>
            </a:r>
            <a:endParaRPr/>
          </a:p>
          <a:p>
            <a:pPr indent="0" lvl="0" marL="457200" rtl="0" algn="l">
              <a:lnSpc>
                <a:spcPct val="90000"/>
              </a:lnSpc>
              <a:spcBef>
                <a:spcPts val="0"/>
              </a:spcBef>
              <a:spcAft>
                <a:spcPts val="0"/>
              </a:spcAft>
              <a:buNone/>
            </a:pPr>
            <a:r>
              <a:t/>
            </a:r>
            <a:endParaRPr/>
          </a:p>
          <a:p>
            <a:pPr indent="-203200" lvl="0" marL="228600" rtl="0" algn="l">
              <a:lnSpc>
                <a:spcPct val="90000"/>
              </a:lnSpc>
              <a:spcBef>
                <a:spcPts val="0"/>
              </a:spcBef>
              <a:spcAft>
                <a:spcPts val="0"/>
              </a:spcAft>
              <a:buSzPts val="1800"/>
              <a:buChar char="•"/>
            </a:pPr>
            <a:r>
              <a:rPr lang="en-US"/>
              <a:t>Validate Input Data</a:t>
            </a:r>
            <a:endParaRPr/>
          </a:p>
          <a:p>
            <a:pPr indent="0" lvl="0" marL="457200" rtl="0" algn="l">
              <a:lnSpc>
                <a:spcPct val="90000"/>
              </a:lnSpc>
              <a:spcBef>
                <a:spcPts val="0"/>
              </a:spcBef>
              <a:spcAft>
                <a:spcPts val="0"/>
              </a:spcAft>
              <a:buNone/>
            </a:pPr>
            <a:r>
              <a:t/>
            </a:r>
            <a:endParaRPr/>
          </a:p>
          <a:p>
            <a:pPr indent="-203200" lvl="0" marL="228600" rtl="0" algn="l">
              <a:lnSpc>
                <a:spcPct val="90000"/>
              </a:lnSpc>
              <a:spcBef>
                <a:spcPts val="0"/>
              </a:spcBef>
              <a:spcAft>
                <a:spcPts val="0"/>
              </a:spcAft>
              <a:buSzPts val="1800"/>
              <a:buChar char="•"/>
            </a:pPr>
            <a:r>
              <a:rPr lang="en-US"/>
              <a:t>Heed </a:t>
            </a:r>
            <a:r>
              <a:rPr lang="en-US"/>
              <a:t>Compiler</a:t>
            </a:r>
            <a:r>
              <a:rPr lang="en-US"/>
              <a:t> Warnings</a:t>
            </a:r>
            <a:endParaRPr/>
          </a:p>
          <a:p>
            <a:pPr indent="0" lvl="0" marL="0" rtl="0" algn="l">
              <a:lnSpc>
                <a:spcPct val="90000"/>
              </a:lnSpc>
              <a:spcBef>
                <a:spcPts val="0"/>
              </a:spcBef>
              <a:spcAft>
                <a:spcPts val="0"/>
              </a:spcAft>
              <a:buNone/>
            </a:pPr>
            <a:r>
              <a:t/>
            </a:r>
            <a:endParaRPr/>
          </a:p>
          <a:p>
            <a:pPr indent="-203200" lvl="0" marL="228600" rtl="0" algn="l">
              <a:lnSpc>
                <a:spcPct val="90000"/>
              </a:lnSpc>
              <a:spcBef>
                <a:spcPts val="0"/>
              </a:spcBef>
              <a:spcAft>
                <a:spcPts val="0"/>
              </a:spcAft>
              <a:buSzPts val="1800"/>
              <a:buChar char="•"/>
            </a:pPr>
            <a:r>
              <a:rPr lang="en-US"/>
              <a:t>Design for Security</a:t>
            </a:r>
            <a:endParaRPr/>
          </a:p>
          <a:p>
            <a:pPr indent="0" lvl="0" marL="0" rtl="0" algn="l">
              <a:lnSpc>
                <a:spcPct val="90000"/>
              </a:lnSpc>
              <a:spcBef>
                <a:spcPts val="0"/>
              </a:spcBef>
              <a:spcAft>
                <a:spcPts val="0"/>
              </a:spcAft>
              <a:buNone/>
            </a:pPr>
            <a:r>
              <a:t/>
            </a:r>
            <a:endParaRPr/>
          </a:p>
          <a:p>
            <a:pPr indent="-203200" lvl="0" marL="228600" rtl="0" algn="l">
              <a:lnSpc>
                <a:spcPct val="90000"/>
              </a:lnSpc>
              <a:spcBef>
                <a:spcPts val="0"/>
              </a:spcBef>
              <a:spcAft>
                <a:spcPts val="0"/>
              </a:spcAft>
              <a:buSzPts val="1800"/>
              <a:buChar char="•"/>
            </a:pPr>
            <a:r>
              <a:rPr lang="en-US"/>
              <a:t>Keep It Simple</a:t>
            </a:r>
            <a:endParaRPr/>
          </a:p>
          <a:p>
            <a:pPr indent="0" lvl="0" marL="0" rtl="0" algn="l">
              <a:lnSpc>
                <a:spcPct val="90000"/>
              </a:lnSpc>
              <a:spcBef>
                <a:spcPts val="0"/>
              </a:spcBef>
              <a:spcAft>
                <a:spcPts val="0"/>
              </a:spcAft>
              <a:buNone/>
            </a:pPr>
            <a:r>
              <a:t/>
            </a:r>
            <a:endParaRPr/>
          </a:p>
          <a:p>
            <a:pPr indent="-203200" lvl="0" marL="228600" rtl="0" algn="l">
              <a:lnSpc>
                <a:spcPct val="90000"/>
              </a:lnSpc>
              <a:spcBef>
                <a:spcPts val="0"/>
              </a:spcBef>
              <a:spcAft>
                <a:spcPts val="0"/>
              </a:spcAft>
              <a:buSzPts val="1800"/>
              <a:buChar char="•"/>
            </a:pPr>
            <a:r>
              <a:rPr lang="en-US"/>
              <a:t>Default Deny</a:t>
            </a:r>
            <a:endParaRPr/>
          </a:p>
          <a:p>
            <a:pPr indent="-88900" lvl="0" marL="228600" rtl="0" algn="l">
              <a:lnSpc>
                <a:spcPct val="90000"/>
              </a:lnSpc>
              <a:spcBef>
                <a:spcPts val="1000"/>
              </a:spcBef>
              <a:spcAft>
                <a:spcPts val="0"/>
              </a:spcAft>
              <a:buClr>
                <a:schemeClr val="lt1"/>
              </a:buClr>
              <a:buSzPts val="2200"/>
              <a:buNone/>
            </a:pPr>
            <a:r>
              <a:t/>
            </a:r>
            <a:endParaRPr/>
          </a:p>
        </p:txBody>
      </p:sp>
      <p:pic>
        <p:nvPicPr>
          <p:cNvPr descr="Green Pace logo" id="263" name="Google Shape;263;p13"/>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
        <p:nvSpPr>
          <p:cNvPr id="264" name="Google Shape;264;p13"/>
          <p:cNvSpPr txBox="1"/>
          <p:nvPr>
            <p:ph idx="1" type="body"/>
          </p:nvPr>
        </p:nvSpPr>
        <p:spPr>
          <a:xfrm>
            <a:off x="7591800" y="2194550"/>
            <a:ext cx="3914400" cy="4024200"/>
          </a:xfrm>
          <a:prstGeom prst="rect">
            <a:avLst/>
          </a:prstGeom>
          <a:noFill/>
          <a:ln>
            <a:noFill/>
          </a:ln>
        </p:spPr>
        <p:txBody>
          <a:bodyPr anchorCtr="0" anchor="t" bIns="45700" lIns="91425" spcFirstLastPara="1" rIns="91425" wrap="square" tIns="45700">
            <a:normAutofit lnSpcReduction="20000"/>
          </a:bodyPr>
          <a:lstStyle/>
          <a:p>
            <a:pPr indent="0" lvl="0" marL="457200" rtl="0" algn="l">
              <a:lnSpc>
                <a:spcPct val="90000"/>
              </a:lnSpc>
              <a:spcBef>
                <a:spcPts val="0"/>
              </a:spcBef>
              <a:spcAft>
                <a:spcPts val="0"/>
              </a:spcAft>
              <a:buNone/>
            </a:pPr>
            <a:r>
              <a:t/>
            </a:r>
            <a:endParaRPr/>
          </a:p>
          <a:p>
            <a:pPr indent="0" lvl="0" marL="457200" rtl="0" algn="l">
              <a:lnSpc>
                <a:spcPct val="90000"/>
              </a:lnSpc>
              <a:spcBef>
                <a:spcPts val="0"/>
              </a:spcBef>
              <a:spcAft>
                <a:spcPts val="0"/>
              </a:spcAft>
              <a:buNone/>
            </a:pPr>
            <a:r>
              <a:t/>
            </a:r>
            <a:endParaRPr/>
          </a:p>
          <a:p>
            <a:pPr indent="-203200" lvl="0" marL="228600" rtl="0" algn="l">
              <a:lnSpc>
                <a:spcPct val="90000"/>
              </a:lnSpc>
              <a:spcBef>
                <a:spcPts val="0"/>
              </a:spcBef>
              <a:spcAft>
                <a:spcPts val="0"/>
              </a:spcAft>
              <a:buSzPts val="1800"/>
              <a:buChar char="•"/>
            </a:pPr>
            <a:r>
              <a:rPr lang="en-US"/>
              <a:t>Principle of Least Privilege</a:t>
            </a:r>
            <a:endParaRPr/>
          </a:p>
          <a:p>
            <a:pPr indent="0" lvl="0" marL="457200" rtl="0" algn="l">
              <a:lnSpc>
                <a:spcPct val="90000"/>
              </a:lnSpc>
              <a:spcBef>
                <a:spcPts val="0"/>
              </a:spcBef>
              <a:spcAft>
                <a:spcPts val="0"/>
              </a:spcAft>
              <a:buNone/>
            </a:pPr>
            <a:r>
              <a:t/>
            </a:r>
            <a:endParaRPr/>
          </a:p>
          <a:p>
            <a:pPr indent="-203200" lvl="0" marL="228600" rtl="0" algn="l">
              <a:lnSpc>
                <a:spcPct val="90000"/>
              </a:lnSpc>
              <a:spcBef>
                <a:spcPts val="0"/>
              </a:spcBef>
              <a:spcAft>
                <a:spcPts val="0"/>
              </a:spcAft>
              <a:buSzPts val="1800"/>
              <a:buChar char="•"/>
            </a:pPr>
            <a:r>
              <a:rPr lang="en-US"/>
              <a:t>Sanitize</a:t>
            </a:r>
            <a:r>
              <a:rPr lang="en-US"/>
              <a:t> Data sent to Other Systems</a:t>
            </a:r>
            <a:endParaRPr/>
          </a:p>
          <a:p>
            <a:pPr indent="0" lvl="0" marL="457200" rtl="0" algn="l">
              <a:lnSpc>
                <a:spcPct val="90000"/>
              </a:lnSpc>
              <a:spcBef>
                <a:spcPts val="0"/>
              </a:spcBef>
              <a:spcAft>
                <a:spcPts val="0"/>
              </a:spcAft>
              <a:buNone/>
            </a:pPr>
            <a:r>
              <a:t/>
            </a:r>
            <a:endParaRPr/>
          </a:p>
          <a:p>
            <a:pPr indent="-203200" lvl="0" marL="228600" rtl="0" algn="l">
              <a:lnSpc>
                <a:spcPct val="90000"/>
              </a:lnSpc>
              <a:spcBef>
                <a:spcPts val="0"/>
              </a:spcBef>
              <a:spcAft>
                <a:spcPts val="0"/>
              </a:spcAft>
              <a:buSzPts val="1800"/>
              <a:buChar char="•"/>
            </a:pPr>
            <a:r>
              <a:rPr lang="en-US"/>
              <a:t>Practice Defense in Depth</a:t>
            </a:r>
            <a:endParaRPr/>
          </a:p>
          <a:p>
            <a:pPr indent="0" lvl="0" marL="457200" rtl="0" algn="l">
              <a:lnSpc>
                <a:spcPct val="90000"/>
              </a:lnSpc>
              <a:spcBef>
                <a:spcPts val="0"/>
              </a:spcBef>
              <a:spcAft>
                <a:spcPts val="0"/>
              </a:spcAft>
              <a:buNone/>
            </a:pPr>
            <a:r>
              <a:t/>
            </a:r>
            <a:endParaRPr/>
          </a:p>
          <a:p>
            <a:pPr indent="-203200" lvl="0" marL="228600" rtl="0" algn="l">
              <a:lnSpc>
                <a:spcPct val="90000"/>
              </a:lnSpc>
              <a:spcBef>
                <a:spcPts val="0"/>
              </a:spcBef>
              <a:spcAft>
                <a:spcPts val="0"/>
              </a:spcAft>
              <a:buSzPts val="1800"/>
              <a:buChar char="•"/>
            </a:pPr>
            <a:r>
              <a:rPr lang="en-US"/>
              <a:t>Use Effective Quality Control Techniques</a:t>
            </a:r>
            <a:endParaRPr/>
          </a:p>
          <a:p>
            <a:pPr indent="0" lvl="0" marL="457200" rtl="0" algn="l">
              <a:lnSpc>
                <a:spcPct val="90000"/>
              </a:lnSpc>
              <a:spcBef>
                <a:spcPts val="0"/>
              </a:spcBef>
              <a:spcAft>
                <a:spcPts val="0"/>
              </a:spcAft>
              <a:buNone/>
            </a:pPr>
            <a:r>
              <a:t/>
            </a:r>
            <a:endParaRPr/>
          </a:p>
          <a:p>
            <a:pPr indent="-203200" lvl="0" marL="228600" rtl="0" algn="l">
              <a:lnSpc>
                <a:spcPct val="90000"/>
              </a:lnSpc>
              <a:spcBef>
                <a:spcPts val="0"/>
              </a:spcBef>
              <a:spcAft>
                <a:spcPts val="0"/>
              </a:spcAft>
              <a:buSzPts val="1800"/>
              <a:buChar char="•"/>
            </a:pPr>
            <a:r>
              <a:rPr lang="en-US"/>
              <a:t>Adopt a Secure Coding Standard</a:t>
            </a:r>
            <a:endParaRPr/>
          </a:p>
          <a:p>
            <a:pPr indent="-88900" lvl="0" marL="228600" rtl="0" algn="l">
              <a:lnSpc>
                <a:spcPct val="90000"/>
              </a:lnSpc>
              <a:spcBef>
                <a:spcPts val="1000"/>
              </a:spcBef>
              <a:spcAft>
                <a:spcPts val="0"/>
              </a:spcAft>
              <a:buClr>
                <a:schemeClr val="lt1"/>
              </a:buClr>
              <a:buSzPts val="22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REFERENCES</a:t>
            </a:r>
            <a:endParaRPr/>
          </a:p>
        </p:txBody>
      </p:sp>
      <p:sp>
        <p:nvSpPr>
          <p:cNvPr id="270" name="Google Shape;270;p14"/>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406400" lvl="0" marL="457200" rtl="0" algn="l">
              <a:lnSpc>
                <a:spcPct val="200000"/>
              </a:lnSpc>
              <a:spcBef>
                <a:spcPts val="0"/>
              </a:spcBef>
              <a:spcAft>
                <a:spcPts val="0"/>
              </a:spcAft>
              <a:buSzPts val="2800"/>
              <a:buFont typeface="Century Gothic"/>
              <a:buChar char="•"/>
            </a:pPr>
            <a:r>
              <a:rPr lang="en-US" sz="1800"/>
              <a:t>Carnegie Mellon University. (2024, 2). </a:t>
            </a:r>
            <a:r>
              <a:rPr i="1" lang="en-US" sz="1800"/>
              <a:t>Confluence</a:t>
            </a:r>
            <a:r>
              <a:rPr lang="en-US" sz="1800"/>
              <a:t>. Confluence Mobile - Confluence. Retrieved October 20, 2024, from </a:t>
            </a:r>
            <a:r>
              <a:rPr lang="en-US" sz="1800" u="sng">
                <a:solidFill>
                  <a:schemeClr val="accent6"/>
                </a:solidFill>
                <a:hlinkClick r:id="rId3">
                  <a:extLst>
                    <a:ext uri="{A12FA001-AC4F-418D-AE19-62706E023703}">
                      <ahyp:hlinkClr val="tx"/>
                    </a:ext>
                  </a:extLst>
                </a:hlinkClick>
              </a:rPr>
              <a:t>https://wiki.sei.cmu.edu/confluence/pages/viewpage.action?pageId=88046682</a:t>
            </a:r>
            <a:r>
              <a:rPr lang="en-US" sz="1800">
                <a:solidFill>
                  <a:schemeClr val="accent6"/>
                </a:solidFill>
              </a:rPr>
              <a:t> </a:t>
            </a:r>
            <a:endParaRPr sz="1800">
              <a:solidFill>
                <a:schemeClr val="accent6"/>
              </a:solidFill>
            </a:endParaRPr>
          </a:p>
          <a:p>
            <a:pPr indent="-406400" lvl="0" marL="457200" rtl="0" algn="l">
              <a:lnSpc>
                <a:spcPct val="200000"/>
              </a:lnSpc>
              <a:spcBef>
                <a:spcPts val="0"/>
              </a:spcBef>
              <a:spcAft>
                <a:spcPts val="0"/>
              </a:spcAft>
              <a:buSzPts val="2800"/>
              <a:buFont typeface="Century Gothic"/>
              <a:buChar char="•"/>
            </a:pPr>
            <a:r>
              <a:rPr lang="en-US" sz="1800"/>
              <a:t>NIST. (2020, 10). </a:t>
            </a:r>
            <a:r>
              <a:rPr i="1" lang="en-US" sz="1800"/>
              <a:t>Security Guidelines for Storage Infrastructure</a:t>
            </a:r>
            <a:r>
              <a:rPr lang="en-US" sz="1800"/>
              <a:t>. NIST Technical Series Publications. Retrieved October 20, 2024, from </a:t>
            </a:r>
            <a:r>
              <a:rPr lang="en-US" sz="1800" u="sng">
                <a:solidFill>
                  <a:schemeClr val="accent6"/>
                </a:solidFill>
                <a:hlinkClick r:id="rId4">
                  <a:extLst>
                    <a:ext uri="{A12FA001-AC4F-418D-AE19-62706E023703}">
                      <ahyp:hlinkClr val="tx"/>
                    </a:ext>
                  </a:extLst>
                </a:hlinkClick>
              </a:rPr>
              <a:t>https://nvlpubs.nist.gov/nistpubs/SpecialPublications/NIST.SP.800-209.pdf</a:t>
            </a:r>
            <a:r>
              <a:rPr lang="en-US" sz="1800">
                <a:solidFill>
                  <a:schemeClr val="accent6"/>
                </a:solidFill>
              </a:rPr>
              <a:t> </a:t>
            </a:r>
            <a:endParaRPr sz="2800">
              <a:solidFill>
                <a:schemeClr val="accent6"/>
              </a:solidFill>
            </a:endParaRPr>
          </a:p>
        </p:txBody>
      </p:sp>
      <p:pic>
        <p:nvPicPr>
          <p:cNvPr descr="Green Pace logo" id="271" name="Google Shape;271;p14"/>
          <p:cNvPicPr preferRelativeResize="0"/>
          <p:nvPr/>
        </p:nvPicPr>
        <p:blipFill rotWithShape="1">
          <a:blip r:embed="rId5">
            <a:alphaModFix/>
          </a:blip>
          <a:srcRect b="0" l="0" r="0" t="0"/>
          <a:stretch/>
        </p:blipFill>
        <p:spPr>
          <a:xfrm>
            <a:off x="11084074" y="5440526"/>
            <a:ext cx="886601" cy="1149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2020-08-19T17:59:24Z</dcterms:created>
  <dc:creator>Kathy Shields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